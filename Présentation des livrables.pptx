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7"/>
  </p:notesMasterIdLst>
  <p:sldIdLst>
    <p:sldId id="256" r:id="rId2"/>
    <p:sldId id="260" r:id="rId3"/>
    <p:sldId id="264" r:id="rId4"/>
    <p:sldId id="257" r:id="rId5"/>
    <p:sldId id="258" r:id="rId6"/>
    <p:sldId id="261" r:id="rId7"/>
    <p:sldId id="271" r:id="rId8"/>
    <p:sldId id="259" r:id="rId9"/>
    <p:sldId id="262" r:id="rId10"/>
    <p:sldId id="263" r:id="rId11"/>
    <p:sldId id="265" r:id="rId12"/>
    <p:sldId id="272" r:id="rId13"/>
    <p:sldId id="266" r:id="rId14"/>
    <p:sldId id="267" r:id="rId15"/>
    <p:sldId id="268" r:id="rId16"/>
    <p:sldId id="311" r:id="rId17"/>
    <p:sldId id="310" r:id="rId18"/>
    <p:sldId id="270" r:id="rId19"/>
    <p:sldId id="287" r:id="rId20"/>
    <p:sldId id="289" r:id="rId21"/>
    <p:sldId id="290" r:id="rId22"/>
    <p:sldId id="288" r:id="rId23"/>
    <p:sldId id="286" r:id="rId24"/>
    <p:sldId id="293" r:id="rId25"/>
    <p:sldId id="291" r:id="rId26"/>
    <p:sldId id="292" r:id="rId27"/>
    <p:sldId id="295" r:id="rId28"/>
    <p:sldId id="296" r:id="rId29"/>
    <p:sldId id="299" r:id="rId30"/>
    <p:sldId id="298" r:id="rId31"/>
    <p:sldId id="297" r:id="rId32"/>
    <p:sldId id="294" r:id="rId33"/>
    <p:sldId id="302" r:id="rId34"/>
    <p:sldId id="304" r:id="rId35"/>
    <p:sldId id="303" r:id="rId36"/>
    <p:sldId id="301" r:id="rId37"/>
    <p:sldId id="300" r:id="rId38"/>
    <p:sldId id="307" r:id="rId39"/>
    <p:sldId id="306" r:id="rId40"/>
    <p:sldId id="305" r:id="rId41"/>
    <p:sldId id="312" r:id="rId42"/>
    <p:sldId id="282" r:id="rId43"/>
    <p:sldId id="313" r:id="rId44"/>
    <p:sldId id="308" r:id="rId45"/>
    <p:sldId id="284" r:id="rId4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F10E6F4-E360-424C-BBF2-E41F52F8D277}">
          <p14:sldIdLst>
            <p14:sldId id="256"/>
            <p14:sldId id="260"/>
            <p14:sldId id="264"/>
            <p14:sldId id="257"/>
            <p14:sldId id="258"/>
            <p14:sldId id="261"/>
            <p14:sldId id="271"/>
            <p14:sldId id="259"/>
            <p14:sldId id="262"/>
            <p14:sldId id="263"/>
            <p14:sldId id="265"/>
            <p14:sldId id="272"/>
            <p14:sldId id="266"/>
            <p14:sldId id="267"/>
            <p14:sldId id="268"/>
            <p14:sldId id="311"/>
            <p14:sldId id="310"/>
            <p14:sldId id="270"/>
            <p14:sldId id="287"/>
            <p14:sldId id="289"/>
            <p14:sldId id="290"/>
            <p14:sldId id="288"/>
            <p14:sldId id="286"/>
            <p14:sldId id="293"/>
            <p14:sldId id="291"/>
            <p14:sldId id="292"/>
            <p14:sldId id="295"/>
            <p14:sldId id="296"/>
            <p14:sldId id="299"/>
            <p14:sldId id="298"/>
            <p14:sldId id="297"/>
            <p14:sldId id="294"/>
            <p14:sldId id="302"/>
            <p14:sldId id="304"/>
            <p14:sldId id="303"/>
            <p14:sldId id="301"/>
            <p14:sldId id="300"/>
            <p14:sldId id="307"/>
            <p14:sldId id="306"/>
            <p14:sldId id="305"/>
          </p14:sldIdLst>
        </p14:section>
        <p14:section name="Untitled Section" id="{950373BD-9416-4F99-8954-AF22C336480A}">
          <p14:sldIdLst>
            <p14:sldId id="312"/>
            <p14:sldId id="282"/>
            <p14:sldId id="313"/>
            <p14:sldId id="308"/>
            <p14:sldId id="284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137" autoAdjust="0"/>
    <p:restoredTop sz="94660"/>
  </p:normalViewPr>
  <p:slideViewPr>
    <p:cSldViewPr snapToGrid="0">
      <p:cViewPr varScale="1">
        <p:scale>
          <a:sx n="59" d="100"/>
          <a:sy n="59" d="100"/>
        </p:scale>
        <p:origin x="88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46" d="100"/>
          <a:sy n="46" d="100"/>
        </p:scale>
        <p:origin x="3566" y="5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E92FF2-FCF9-45C2-AC61-7F287A2F4DA1}" type="datetimeFigureOut">
              <a:rPr lang="en-GB" smtClean="0"/>
              <a:t>20/02/2026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8220C8-34B2-4381-9A48-DCBC56C04CA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71491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8220C8-34B2-4381-9A48-DCBC56C04CAA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78107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8220C8-34B2-4381-9A48-DCBC56C04CAA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930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A4DCE-8A98-21BB-BBE9-D433F942AB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59F15D-0F0E-62B4-AC9F-F2D46748CB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B3218C-4003-8DC0-FF3F-C0991438D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1E14B-197D-40F8-A0DE-3D1DC62B7623}" type="datetime1">
              <a:rPr lang="en-GB" smtClean="0"/>
              <a:t>20/02/2026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8AD4DE-7B32-9060-A7A4-2BD907D46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Maintenez et documentez un système de stockage des données sécurisé et performant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C81B6F-5706-D579-9151-E4AB3A3C0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4C30A-9459-45DE-9720-B9BD7B8369A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79115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46A9B-537C-E9F6-0272-A475141F1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081218-6299-D2A1-AD5E-393CE87B4F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E6855D-1356-C3A6-3D1C-AF40716A4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E201C-1B8B-4DD0-BF50-8F7AF6C91112}" type="datetime1">
              <a:rPr lang="en-GB" smtClean="0"/>
              <a:t>20/02/2026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5A8E02-652A-534E-BBD2-9407A362A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Maintenez et documentez un système de stockage des données sécurisé et performant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5383D0-3B6B-8ED5-111A-4C808A8EA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4C30A-9459-45DE-9720-B9BD7B8369A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47914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C60FF-0CA5-D60C-BFB5-C53B811837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5CBE8A-6515-1D7B-41BB-11A6BC7BF2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D6487D-60B7-7B8C-EE16-E1D903543E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0AD18-D3D8-4E93-A17E-BB8E172316B9}" type="datetime1">
              <a:rPr lang="en-GB" smtClean="0"/>
              <a:t>20/02/2026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497FDC-F34A-9704-F5EA-E6E5B882DF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Maintenez et documentez un système de stockage des données sécurisé et performant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46A627-53AD-43E8-D4DB-486BCBF87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4C30A-9459-45DE-9720-B9BD7B8369A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75652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E2E02-26C1-23D3-BF42-2AE40A0C7B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384484-3202-C466-F9F0-5E135BC0C6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BAA8B8-5142-E824-47D7-6ED894D083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CB65E9-9B13-FF5F-1B01-409DEA5F23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27152-460E-4B36-917C-52C12D6A14ED}" type="datetime1">
              <a:rPr lang="en-GB" smtClean="0"/>
              <a:t>20/02/2026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000D34-2490-11B2-4C8D-3436587D0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Maintenez et documentez un système de stockage des données sécurisé et performant</a:t>
            </a: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E6CFBA-2A08-0C15-B7B7-033842CB5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4C30A-9459-45DE-9720-B9BD7B8369A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28574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6D196-CA5C-3088-2089-6E4163FD8F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C5A300-7091-A701-D3C4-3AA155EC57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EBB01F-FDF8-0408-AE81-D65D8C6B89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50D205-5321-570D-1609-BE43F737DD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0405442-BD8C-AD06-9A93-62CF133956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16676F-9451-A00D-7639-7D36A6933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B8CA6-101D-4915-92E7-CACA1C329594}" type="datetime1">
              <a:rPr lang="en-GB" smtClean="0"/>
              <a:t>20/02/2026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042567-1D3C-F031-A7CD-2496870CD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Maintenez et documentez un système de stockage des données sécurisé et performant</a:t>
            </a:r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38E73B1-8B3F-F4ED-8E47-3636DCDB0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4C30A-9459-45DE-9720-B9BD7B8369A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51532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6F2D2-608B-1B9A-41D6-22BE86E87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91B21E-616E-569E-4F4F-07C164CFB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04B2E-FF4C-4730-A46D-9A38C2A87D8D}" type="datetime1">
              <a:rPr lang="en-GB" smtClean="0"/>
              <a:t>20/02/2026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0DFAF3-7B10-FC15-2D7E-962409FE56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Maintenez et documentez un système de stockage des données sécurisé et performant</a:t>
            </a:r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90C041-AB7B-7DE3-9E2B-94C4CB03B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4C30A-9459-45DE-9720-B9BD7B8369A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41656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B2198C-CEF8-E2E3-5FDC-7BCE014AA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204B6-D614-4259-8F49-D284DDB0CAD7}" type="datetime1">
              <a:rPr lang="en-GB" smtClean="0"/>
              <a:t>20/02/2026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8DEE64-0CEA-D616-F4F8-2BBADF374C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Maintenez et documentez un système de stockage des données sécurisé et performant</a:t>
            </a:r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40FEE6-8361-2877-C364-1A49579B2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4C30A-9459-45DE-9720-B9BD7B8369A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01759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FBB71D-3A34-382B-7C14-28C0698C2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70C5BF-F5EA-58FE-939C-3A624B44E2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0200C3-703B-0918-0A86-FAA6C02EA3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DCC2BB-5598-9A90-1203-CDB6BEB82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28A27-A315-464C-B6B5-0BED159F55E0}" type="datetime1">
              <a:rPr lang="en-GB" smtClean="0"/>
              <a:t>20/02/2026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3211AF-0262-82B3-E05C-0C58BD140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Maintenez et documentez un système de stockage des données sécurisé et performant</a:t>
            </a: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02B535-091C-4288-D968-51C59C0B8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4C30A-9459-45DE-9720-B9BD7B8369A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82780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DDEE6-38F6-46B0-C3BB-5DAF89D56E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A52CE2-1A9A-04A8-507D-9483AECB12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3A9D46-9663-7C2D-D6EE-25F6DA1A4E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865E7A-874D-90C0-9BE0-6C7DF7E665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E1937-96A6-4BCB-88BA-5CD377050601}" type="datetime1">
              <a:rPr lang="en-GB" smtClean="0"/>
              <a:t>20/02/2026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4A0249-B400-AA82-3189-D322A3630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Maintenez et documentez un système de stockage des données sécurisé et performant</a:t>
            </a: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BACCA6-2EE5-1AB5-5E30-B6A64FE51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4C30A-9459-45DE-9720-B9BD7B8369A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3836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3E211-C098-C627-3365-5C47916AE4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89584A-4D5B-8889-5DFF-82983FDBAB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7E02AF-A8CC-6565-16C2-C29A0BF6DF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8814D-25BB-41A2-B869-EA2D97EEDE44}" type="datetime1">
              <a:rPr lang="en-GB" smtClean="0"/>
              <a:t>20/02/2026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0ED27A-745D-7137-53E0-F496659F57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Maintenez et documentez un système de stockage des données sécurisé et performant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53C367-F2C9-F232-93B5-0BBE7040A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4C30A-9459-45DE-9720-B9BD7B8369A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19651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33248E-851E-EBDA-7715-B04E767549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9FCB47-A9E2-F5D4-E579-87E121FDBE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47380F-25A1-956D-5DA4-78109C3EBA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36CB5-6DEE-4493-8C67-CA349563BE3A}" type="datetime1">
              <a:rPr lang="en-GB" smtClean="0"/>
              <a:t>20/02/2026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BDDB20-6D76-C544-F698-45E61694D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Maintenez et documentez un système de stockage des données sécurisé et performant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A1E080-42EE-C909-60D0-036A57EEE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4C30A-9459-45DE-9720-B9BD7B8369A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82727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5A02BA2-A888-F815-2075-10A47A7A7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5E8710-381C-D2F9-7A17-6E82E86ED2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5CDC84-D7B7-C1F4-AE95-E554982A56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FA379B-9292-4AFB-9D16-F84390D13692}" type="datetime1">
              <a:rPr lang="en-GB" smtClean="0"/>
              <a:t>20/02/2026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61C3F7-F1BC-1E8B-648D-1F5382A08D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fr-FR"/>
              <a:t>Maintenez et documentez un système de stockage des données sécurisé et performant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FDD06F-811B-9121-733F-B897F966DF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C4C30A-9459-45DE-9720-B9BD7B8369A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10691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AB78C-71EE-398B-A707-06EB145D9B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7882" y="685801"/>
            <a:ext cx="10932459" cy="2635623"/>
          </a:xfrm>
        </p:spPr>
        <p:txBody>
          <a:bodyPr>
            <a:normAutofit fontScale="90000"/>
          </a:bodyPr>
          <a:lstStyle/>
          <a:p>
            <a:br>
              <a:rPr lang="fr-FR" b="1" dirty="0"/>
            </a:br>
            <a:br>
              <a:rPr lang="fr-FR" b="1" dirty="0"/>
            </a:br>
            <a:br>
              <a:rPr lang="fr-FR" b="1" dirty="0"/>
            </a:br>
            <a:br>
              <a:rPr lang="fr-FR" sz="6700" dirty="0"/>
            </a:br>
            <a:br>
              <a:rPr lang="fr-FR" sz="6700" dirty="0"/>
            </a:br>
            <a:r>
              <a:rPr lang="fr-FR" sz="6700" dirty="0"/>
              <a:t>Maintenez et documentez un système de stockage des données sécurisé et performant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2E8DC7-480D-CDB7-5C38-70B8CDEE2A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24734" y="4262717"/>
            <a:ext cx="6199094" cy="1532963"/>
          </a:xfrm>
        </p:spPr>
        <p:txBody>
          <a:bodyPr>
            <a:noAutofit/>
          </a:bodyPr>
          <a:lstStyle/>
          <a:p>
            <a:r>
              <a:rPr lang="en-GB" sz="3600" dirty="0" err="1">
                <a:latin typeface="Abadi" panose="020F0502020204030204" pitchFamily="34" charset="0"/>
              </a:rPr>
              <a:t>Projet</a:t>
            </a:r>
            <a:r>
              <a:rPr lang="en-GB" sz="3600" dirty="0">
                <a:latin typeface="Abadi" panose="020F0502020204030204" pitchFamily="34" charset="0"/>
              </a:rPr>
              <a:t> 5</a:t>
            </a:r>
          </a:p>
          <a:p>
            <a:r>
              <a:rPr lang="en-GB" sz="3600" dirty="0">
                <a:latin typeface="Abadi" panose="020F0502020204030204" pitchFamily="34" charset="0"/>
              </a:rPr>
              <a:t>Par O. Bechir</a:t>
            </a:r>
          </a:p>
          <a:p>
            <a:endParaRPr lang="en-GB" sz="36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B62BDC-5D8E-6E94-4BBB-71ECDF24D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Maintenez et documentez un système de stockage des données sécurisé et performant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2346D2-B715-812A-CBA8-30E1B4B46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1D1A9-401D-4468-94C0-3F94F9AEE095}" type="datetime1">
              <a:rPr lang="en-GB" smtClean="0"/>
              <a:t>20/02/2026</a:t>
            </a:fld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838455-8547-C64E-A429-8557F1E78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4C30A-9459-45DE-9720-B9BD7B8369A6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23409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106F2-424F-87A1-061A-EA3EB28993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10434" y="927848"/>
            <a:ext cx="7194177" cy="833718"/>
          </a:xfrm>
        </p:spPr>
        <p:txBody>
          <a:bodyPr>
            <a:normAutofit/>
          </a:bodyPr>
          <a:lstStyle/>
          <a:p>
            <a:r>
              <a:rPr lang="en-GB" sz="4000" dirty="0"/>
              <a:t>Nom de l’entreprise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41F2B8-59F4-4B38-AC4A-071870A912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743200"/>
            <a:ext cx="9247094" cy="1183341"/>
          </a:xfrm>
        </p:spPr>
        <p:txBody>
          <a:bodyPr>
            <a:noAutofit/>
          </a:bodyPr>
          <a:lstStyle/>
          <a:p>
            <a:r>
              <a:rPr lang="en-GB" sz="8000" dirty="0" err="1"/>
              <a:t>DataSoluTech</a:t>
            </a:r>
            <a:endParaRPr lang="en-GB" sz="8000" dirty="0"/>
          </a:p>
          <a:p>
            <a:endParaRPr lang="en-GB" sz="80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762E69-8F5C-A2D9-2A96-6EF923E8D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Maintenez et documentez un système de stockage des données sécurisé et performant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93A712-9C46-9ADC-5218-D752C2B16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34360-4F95-4C91-8001-7682C26B47BE}" type="datetime1">
              <a:rPr lang="en-GB" smtClean="0"/>
              <a:t>20/02/2026</a:t>
            </a:fld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2B5E12-F250-9462-4691-E5FCA54F4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4C30A-9459-45DE-9720-B9BD7B8369A6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3048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67E42-D445-9CD5-461C-2E870AB39C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25388" y="874059"/>
            <a:ext cx="9574306" cy="2111188"/>
          </a:xfrm>
        </p:spPr>
        <p:txBody>
          <a:bodyPr>
            <a:normAutofit fontScale="90000"/>
          </a:bodyPr>
          <a:lstStyle/>
          <a:p>
            <a:br>
              <a:rPr lang="fr-FR" sz="3600" dirty="0"/>
            </a:br>
            <a:br>
              <a:rPr lang="fr-FR" dirty="0"/>
            </a:br>
            <a:br>
              <a:rPr lang="fr-FR" dirty="0"/>
            </a:br>
            <a:br>
              <a:rPr lang="fr-FR" dirty="0"/>
            </a:br>
            <a:r>
              <a:rPr lang="fr-FR" sz="6700" dirty="0"/>
              <a:t>Le contexte de la mission </a:t>
            </a:r>
            <a:br>
              <a:rPr lang="fr-FR" dirty="0"/>
            </a:b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E9F81D-814C-58A8-18FE-3A67224C12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429000"/>
            <a:ext cx="9144000" cy="1559859"/>
          </a:xfrm>
        </p:spPr>
        <p:txBody>
          <a:bodyPr/>
          <a:lstStyle/>
          <a:p>
            <a:pPr algn="l"/>
            <a:endParaRPr lang="fr-FR" dirty="0"/>
          </a:p>
          <a:p>
            <a:pPr algn="l"/>
            <a:r>
              <a:rPr lang="fr-FR" dirty="0"/>
              <a:t>la description de la démarche technique complète </a:t>
            </a:r>
            <a:br>
              <a:rPr lang="fr-FR" dirty="0"/>
            </a:br>
            <a:r>
              <a:rPr lang="fr-FR" dirty="0"/>
              <a:t>la justification de nos choix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405F5-0203-DB57-A6A4-10149D5D5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1E14B-197D-40F8-A0DE-3D1DC62B7623}" type="datetime1">
              <a:rPr lang="en-GB" smtClean="0"/>
              <a:t>20/02/2026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6D7639-1E56-F71A-AC37-5CE71D05B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Maintenez et documentez un système de stockage des données sécurisé et performant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18E509-F514-2BC5-FD50-4A469F163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4C30A-9459-45DE-9720-B9BD7B8369A6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36980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FCAEF6-F5F5-053F-BA8F-D6BEF772C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6000" dirty="0"/>
              <a:t>Objectif global de la mission</a:t>
            </a:r>
            <a:endParaRPr lang="en-GB" sz="6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840131-9A2B-DC36-9B92-AB6568DA88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18764"/>
            <a:ext cx="10515600" cy="3590365"/>
          </a:xfrm>
        </p:spPr>
        <p:txBody>
          <a:bodyPr>
            <a:normAutofit/>
          </a:bodyPr>
          <a:lstStyle/>
          <a:p>
            <a:r>
              <a:rPr lang="fr-FR" dirty="0"/>
              <a:t>Migrer un </a:t>
            </a:r>
            <a:r>
              <a:rPr lang="fr-FR" dirty="0" err="1"/>
              <a:t>dataset</a:t>
            </a:r>
            <a:r>
              <a:rPr lang="fr-FR" dirty="0"/>
              <a:t> médical (CSV) vers une base NoSQL MongoDB, en garantissant :</a:t>
            </a:r>
          </a:p>
          <a:p>
            <a:r>
              <a:rPr lang="fr-FR" dirty="0"/>
              <a:t>Scalabilité horizontale</a:t>
            </a:r>
          </a:p>
          <a:p>
            <a:r>
              <a:rPr lang="fr-FR" dirty="0"/>
              <a:t>Automatisation</a:t>
            </a:r>
          </a:p>
          <a:p>
            <a:r>
              <a:rPr lang="fr-FR" dirty="0"/>
              <a:t>Portabilité via Docker</a:t>
            </a:r>
          </a:p>
          <a:p>
            <a:r>
              <a:rPr lang="fr-FR" dirty="0"/>
              <a:t>Sécurité (authentification &amp; rôles)</a:t>
            </a:r>
          </a:p>
          <a:p>
            <a:r>
              <a:rPr lang="fr-FR" dirty="0"/>
              <a:t>Préparation au déploiement Cloud (AWS)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FC39BB-951E-8B26-022D-3335BE99C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Maintenez et documentez un système de stockage des données sécurisé et performant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2DB1F8-C0E6-817A-8973-398D25311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0A605-2E26-46A6-AA53-BC6F1C15344B}" type="datetime1">
              <a:rPr lang="en-GB" smtClean="0"/>
              <a:t>20/02/2026</a:t>
            </a:fld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DF19BD-EFF3-AA41-940D-5700B476F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4C30A-9459-45DE-9720-B9BD7B8369A6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68822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AED0B-17D7-8D7A-ED1C-70685FBD6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br>
              <a:rPr lang="fr-FR" b="1" dirty="0"/>
            </a:br>
            <a:r>
              <a:rPr lang="fr-FR" sz="6700" dirty="0"/>
              <a:t>Vue d’ensemble de la démarche</a:t>
            </a:r>
            <a:br>
              <a:rPr lang="fr-FR" b="1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400A9C-F2D4-714B-D99C-A5C445FC05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9553" y="1825625"/>
            <a:ext cx="9466729" cy="4064187"/>
          </a:xfrm>
        </p:spPr>
        <p:txBody>
          <a:bodyPr>
            <a:normAutofit/>
          </a:bodyPr>
          <a:lstStyle/>
          <a:p>
            <a:pPr>
              <a:buFont typeface="+mj-lt"/>
              <a:buAutoNum type="arabicPeriod"/>
            </a:pPr>
            <a:r>
              <a:rPr lang="fr-FR" dirty="0"/>
              <a:t> 	Analyse des données &amp; conception MongoDB</a:t>
            </a:r>
          </a:p>
          <a:p>
            <a:pPr>
              <a:buFont typeface="+mj-lt"/>
              <a:buAutoNum type="arabicPeriod"/>
            </a:pPr>
            <a:r>
              <a:rPr lang="fr-FR" dirty="0"/>
              <a:t> 	Script de migration Python (CSV → MongoDB)</a:t>
            </a:r>
          </a:p>
          <a:p>
            <a:pPr>
              <a:buFont typeface="+mj-lt"/>
              <a:buAutoNum type="arabicPeriod"/>
            </a:pPr>
            <a:r>
              <a:rPr lang="fr-FR" dirty="0"/>
              <a:t> 	Tests d’intégrité &amp; automatisation</a:t>
            </a:r>
          </a:p>
          <a:p>
            <a:pPr>
              <a:buFont typeface="+mj-lt"/>
              <a:buAutoNum type="arabicPeriod"/>
            </a:pPr>
            <a:r>
              <a:rPr lang="fr-FR" dirty="0"/>
              <a:t> 	Conteneurisation avec Docker &amp; Docker Compose</a:t>
            </a:r>
          </a:p>
          <a:p>
            <a:pPr>
              <a:buFont typeface="+mj-lt"/>
              <a:buAutoNum type="arabicPeriod"/>
            </a:pPr>
            <a:r>
              <a:rPr lang="fr-FR" dirty="0"/>
              <a:t> 	Sécurité : authentification &amp; rôles MongoDB</a:t>
            </a:r>
          </a:p>
          <a:p>
            <a:pPr>
              <a:buFont typeface="+mj-lt"/>
              <a:buAutoNum type="arabicPeriod"/>
            </a:pPr>
            <a:r>
              <a:rPr lang="fr-FR" dirty="0"/>
              <a:t> 	Documentation &amp; GitHub</a:t>
            </a:r>
          </a:p>
          <a:p>
            <a:pPr>
              <a:buFont typeface="+mj-lt"/>
              <a:buAutoNum type="arabicPeriod"/>
            </a:pPr>
            <a:r>
              <a:rPr lang="fr-FR" dirty="0"/>
              <a:t> 	Recherche AWS (sans déploiement réel)</a:t>
            </a:r>
          </a:p>
          <a:p>
            <a:pPr>
              <a:buFont typeface="+mj-lt"/>
              <a:buAutoNum type="arabicPeriod"/>
            </a:pPr>
            <a:r>
              <a:rPr lang="fr-FR" dirty="0"/>
              <a:t> 	Support de présentation (PowerPoint)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B11BEB-63AD-66C7-4198-BDAE0326AA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Maintenez et documentez un système de stockage des données sécurisé et performant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02AAFB-0243-DF48-3E17-588D75B95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9E1FA-C839-4061-BD6E-1CA356766FF9}" type="datetime1">
              <a:rPr lang="en-GB" smtClean="0"/>
              <a:t>20/02/2026</a:t>
            </a:fld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C03775-84CF-F66A-E839-2C1E5A097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4C30A-9459-45DE-9720-B9BD7B8369A6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85445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04CC8-A8FA-8B27-06E8-55FBE940D03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Big Data scalable </a:t>
            </a:r>
            <a:r>
              <a:rPr lang="en-GB" dirty="0" err="1"/>
              <a:t>horizontalement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FEF2A3-A82D-F70C-8064-CC50D6C956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04564" y="4155141"/>
            <a:ext cx="7274859" cy="1465730"/>
          </a:xfrm>
        </p:spPr>
        <p:txBody>
          <a:bodyPr>
            <a:normAutofit fontScale="32500" lnSpcReduction="20000"/>
          </a:bodyPr>
          <a:lstStyle/>
          <a:p>
            <a:endParaRPr lang="fr-FR" sz="8000" b="1" dirty="0"/>
          </a:p>
          <a:p>
            <a:r>
              <a:rPr lang="fr-FR" sz="9800" dirty="0"/>
              <a:t>La migration des données vers MongoDB via Docker</a:t>
            </a:r>
          </a:p>
          <a:p>
            <a:r>
              <a:rPr lang="fr-FR" b="1" dirty="0"/>
              <a:t> 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107A36-616C-FA81-B17C-564CCDC3AF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1E14B-197D-40F8-A0DE-3D1DC62B7623}" type="datetime1">
              <a:rPr lang="en-GB" smtClean="0"/>
              <a:t>20/02/2026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77CB35-7167-6E0E-752B-1E6D54C41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Maintenez et documentez un système de stockage des données sécurisé et performant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1B8C7B-D77B-24A7-FAEE-78D0A78F4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4C30A-9459-45DE-9720-B9BD7B8369A6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11893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897E2-31DF-30BD-C0FC-CA52DFDB2CB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Processus de la migration vers MongoDB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419641-E190-4776-5506-AE55C946ED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48318" y="4168588"/>
            <a:ext cx="5701553" cy="1089212"/>
          </a:xfrm>
        </p:spPr>
        <p:txBody>
          <a:bodyPr>
            <a:normAutofit fontScale="92500" lnSpcReduction="10000"/>
          </a:bodyPr>
          <a:lstStyle/>
          <a:p>
            <a:endParaRPr lang="fr-FR" dirty="0"/>
          </a:p>
          <a:p>
            <a:r>
              <a:rPr lang="fr-FR" sz="2600" dirty="0"/>
              <a:t>Les étapes générales d’une migration </a:t>
            </a:r>
            <a:br>
              <a:rPr lang="fr-FR" sz="2600" dirty="0"/>
            </a:br>
            <a:r>
              <a:rPr lang="fr-FR" sz="2600" dirty="0"/>
              <a:t>vers MongoDB</a:t>
            </a:r>
            <a:endParaRPr lang="en-GB" sz="2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9C6ABB-F85C-B692-9E54-A43E9E1DE2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1E14B-197D-40F8-A0DE-3D1DC62B7623}" type="datetime1">
              <a:rPr lang="en-GB" smtClean="0"/>
              <a:t>20/02/2026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8DF9DE-3383-E0B3-C353-BCEE53CBA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Maintenez et documentez un système de stockage des données sécurisé et performant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7C3EC4-4740-FB33-7BD3-0F2AE0EC8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4C30A-9459-45DE-9720-B9BD7B8369A6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97438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B5185-96DE-E17F-AACA-0A539E633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br>
              <a:rPr lang="fr-FR" dirty="0"/>
            </a:br>
            <a:br>
              <a:rPr lang="fr-FR" dirty="0"/>
            </a:br>
            <a:r>
              <a:rPr lang="fr-FR" sz="6700" dirty="0"/>
              <a:t>Analyse de la source de données</a:t>
            </a:r>
            <a:br>
              <a:rPr lang="fr-FR" b="1" dirty="0"/>
            </a:br>
            <a:br>
              <a:rPr lang="fr-FR" b="1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6F1A7A-1FA8-5170-C0F7-8D7A37FCC8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5424" y="1949824"/>
            <a:ext cx="10318376" cy="31331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/>
              <a:t>Avant toute chose, on étudie :</a:t>
            </a:r>
          </a:p>
          <a:p>
            <a:pPr lvl="1"/>
            <a:r>
              <a:rPr lang="fr-FR" dirty="0"/>
              <a:t>Le type de source : </a:t>
            </a:r>
            <a:r>
              <a:rPr lang="fr-FR" b="1" dirty="0"/>
              <a:t>MySQL / PostgreSQL / Oracle / CSV / Excel / JSON</a:t>
            </a:r>
            <a:endParaRPr lang="fr-FR" dirty="0"/>
          </a:p>
          <a:p>
            <a:pPr lvl="1"/>
            <a:r>
              <a:rPr lang="fr-FR" dirty="0"/>
              <a:t>La structure (tables, clés, relations)</a:t>
            </a:r>
          </a:p>
          <a:p>
            <a:pPr lvl="1"/>
            <a:r>
              <a:rPr lang="fr-FR" dirty="0"/>
              <a:t>Le volume des données</a:t>
            </a:r>
          </a:p>
          <a:p>
            <a:pPr lvl="1"/>
            <a:r>
              <a:rPr lang="fr-FR" dirty="0"/>
              <a:t>La qualité des données (doublons, valeurs nulles)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Objectif : comprendre ce qu’on va migrer</a:t>
            </a: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95EB26-317A-4BF2-D70B-4129ADC12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Maintenez et documentez un système de stockage des données sécurisé et performant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67AF7B-8E1E-E155-64A7-94D5251F14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ACE31B-0F35-4DEE-B4FE-A6B2735E8775}" type="datetime1">
              <a:rPr lang="en-GB" smtClean="0"/>
              <a:t>20/02/2026</a:t>
            </a:fld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135BC9-6B4D-E307-4745-FD46DA8C9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4C30A-9459-45DE-9720-B9BD7B8369A6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57666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F97A2B-9196-F723-019C-5FDD81D9A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La migration des données vers MongoDB via Docker 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0A5000-4ED6-4236-77E5-88A243CCDA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8565" y="1825625"/>
            <a:ext cx="11107269" cy="4351338"/>
          </a:xfrm>
        </p:spPr>
        <p:txBody>
          <a:bodyPr>
            <a:normAutofit/>
          </a:bodyPr>
          <a:lstStyle/>
          <a:p>
            <a:pPr algn="just"/>
            <a:r>
              <a:rPr lang="fr-FR" sz="2600" dirty="0"/>
              <a:t>Rédiger un script afin d’automatiser la migration du </a:t>
            </a:r>
            <a:r>
              <a:rPr lang="fr-FR" sz="2600" dirty="0" err="1"/>
              <a:t>dataset</a:t>
            </a:r>
            <a:r>
              <a:rPr lang="fr-FR" sz="2600" dirty="0"/>
              <a:t> reçu vers MongoDB.</a:t>
            </a:r>
          </a:p>
          <a:p>
            <a:pPr algn="just"/>
            <a:r>
              <a:rPr lang="fr-FR" sz="2600" dirty="0"/>
              <a:t>Utiliser Docker pour conteneuriser MongoDB ainsi que le(s) script(s) de migration des données afin que le tout soit portable et scalable.</a:t>
            </a:r>
          </a:p>
          <a:p>
            <a:pPr algn="just"/>
            <a:r>
              <a:rPr lang="fr-FR" sz="2600" dirty="0"/>
              <a:t>Versionner et de sauvegarder ton travail via GitHub.</a:t>
            </a:r>
          </a:p>
          <a:p>
            <a:pPr algn="just"/>
            <a:r>
              <a:rPr lang="fr-FR" sz="2600" dirty="0"/>
              <a:t>Documenter le travail par un </a:t>
            </a:r>
            <a:r>
              <a:rPr lang="fr-FR" sz="2600" dirty="0" err="1"/>
              <a:t>readme</a:t>
            </a:r>
            <a:r>
              <a:rPr lang="fr-FR" sz="2600" dirty="0"/>
              <a:t> détaillé sur la page d'accueil du GitHub.</a:t>
            </a:r>
          </a:p>
          <a:p>
            <a:pPr algn="just"/>
            <a:r>
              <a:rPr lang="fr-FR" sz="2600" dirty="0"/>
              <a:t>Inclure le schéma de la base de données dans ta documentation.</a:t>
            </a:r>
          </a:p>
          <a:p>
            <a:pPr algn="just"/>
            <a:r>
              <a:rPr lang="fr-FR" sz="2600" dirty="0"/>
              <a:t>Décrire le système d’authentification ainsi que les rôles utilisateurs qu’on  créera.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3E2580-C119-6AF7-FDC2-3144C1A93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E201C-1B8B-4DD0-BF50-8F7AF6C91112}" type="datetime1">
              <a:rPr lang="en-GB" smtClean="0"/>
              <a:t>20/02/2026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3F54BA-E97B-7EA5-37D0-728E53464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Maintenez et documentez un système de stockage des données sécurisé et performant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0229C2-B21E-3296-39FA-1CE7150B2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4C30A-9459-45DE-9720-B9BD7B8369A6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47126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93DC3-C7BF-5001-BD18-E27C03D81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br>
              <a:rPr lang="fr-FR" dirty="0"/>
            </a:br>
            <a:r>
              <a:rPr lang="fr-FR" dirty="0"/>
              <a:t>Étape 1 : Migration des données vers MongoDB</a:t>
            </a:r>
            <a:br>
              <a:rPr lang="fr-FR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F1991F-1616-423F-F8B3-BF6097CBBB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988422"/>
          </a:xfrm>
        </p:spPr>
        <p:txBody>
          <a:bodyPr>
            <a:normAutofit fontScale="92500" lnSpcReduction="10000"/>
          </a:bodyPr>
          <a:lstStyle/>
          <a:p>
            <a:r>
              <a:rPr lang="fr-FR" dirty="0"/>
              <a:t> Nous avons déjà créé test_csv.py pour lire le CSV.</a:t>
            </a:r>
          </a:p>
          <a:p>
            <a:r>
              <a:rPr lang="fr-FR" dirty="0"/>
              <a:t> Nous avons exécuté migrate.py et vos 55 501 lignes ont été insérées dans la collection patients de la base </a:t>
            </a:r>
            <a:r>
              <a:rPr lang="fr-FR" dirty="0" err="1"/>
              <a:t>medical_db</a:t>
            </a:r>
            <a:r>
              <a:rPr lang="fr-FR" dirty="0"/>
              <a:t>.</a:t>
            </a:r>
          </a:p>
          <a:p>
            <a:r>
              <a:rPr lang="fr-FR" dirty="0"/>
              <a:t> Nous avons vérifié dans MongoDB que les documents sont bien présents.</a:t>
            </a:r>
          </a:p>
          <a:p>
            <a:endParaRPr lang="fr-FR" dirty="0"/>
          </a:p>
          <a:p>
            <a:r>
              <a:rPr lang="fr-FR" dirty="0"/>
              <a:t>Donc l’</a:t>
            </a:r>
            <a:r>
              <a:rPr lang="fr-FR" b="1" dirty="0"/>
              <a:t>Étape 1 est terminée pour la migration de données</a:t>
            </a:r>
            <a:r>
              <a:rPr lang="fr-FR" dirty="0"/>
              <a:t>.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C2D489-61BB-EAC9-99BC-A0CB5EBCE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E201C-1B8B-4DD0-BF50-8F7AF6C91112}" type="datetime1">
              <a:rPr lang="en-GB" smtClean="0"/>
              <a:t>20/02/2026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80A160-EDE6-785F-6D19-4C47CF603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Maintenez et documentez un système de stockage des données sécurisé et performant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A50D5B-07DA-EBED-334C-4224618A8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4C30A-9459-45DE-9720-B9BD7B8369A6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64890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7B180-8972-FBFB-110B-77408E7834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br>
              <a:rPr lang="fr-FR" dirty="0"/>
            </a:br>
            <a:r>
              <a:rPr lang="fr-FR" dirty="0"/>
              <a:t>La prochaine sous-étape dans l’énoncé pour </a:t>
            </a:r>
            <a:r>
              <a:rPr lang="fr-FR" b="1" dirty="0"/>
              <a:t>l’Étape 1</a:t>
            </a:r>
            <a:r>
              <a:rPr lang="fr-FR" dirty="0"/>
              <a:t> est :</a:t>
            </a:r>
            <a:br>
              <a:rPr lang="fr-FR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5FD28E-2C2E-691C-F201-F7EC83F31E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712824" cy="258501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FR" sz="2200" dirty="0"/>
              <a:t>Tester l’intégrité des données avant et après migration.</a:t>
            </a:r>
          </a:p>
          <a:p>
            <a:pPr lvl="1"/>
            <a:r>
              <a:rPr lang="fr-FR" sz="2200" dirty="0"/>
              <a:t>Vérifier les colonnes disponibles (fait avec </a:t>
            </a:r>
            <a:r>
              <a:rPr lang="fr-FR" sz="2200" dirty="0" err="1"/>
              <a:t>print</a:t>
            </a:r>
            <a:r>
              <a:rPr lang="fr-FR" sz="2200" dirty="0"/>
              <a:t>(</a:t>
            </a:r>
            <a:r>
              <a:rPr lang="fr-FR" sz="2200" dirty="0" err="1"/>
              <a:t>df.columns.tolist</a:t>
            </a:r>
            <a:r>
              <a:rPr lang="fr-FR" sz="2200" dirty="0"/>
              <a:t>())).</a:t>
            </a:r>
          </a:p>
          <a:p>
            <a:pPr lvl="1"/>
            <a:r>
              <a:rPr lang="fr-FR" sz="2200" dirty="0"/>
              <a:t>Vérifier les types de variables (ex : </a:t>
            </a:r>
            <a:r>
              <a:rPr lang="fr-FR" sz="2200" dirty="0" err="1"/>
              <a:t>int</a:t>
            </a:r>
            <a:r>
              <a:rPr lang="fr-FR" sz="2200" dirty="0"/>
              <a:t>, string, date).</a:t>
            </a:r>
          </a:p>
          <a:p>
            <a:pPr lvl="1"/>
            <a:r>
              <a:rPr lang="fr-FR" sz="2200" dirty="0"/>
              <a:t>Vérifier les doublons.</a:t>
            </a:r>
          </a:p>
          <a:p>
            <a:pPr lvl="1"/>
            <a:r>
              <a:rPr lang="fr-FR" sz="2200" dirty="0"/>
              <a:t>Vérifier les valeurs manquantes.</a:t>
            </a:r>
          </a:p>
          <a:p>
            <a:pPr marL="457200" lvl="1" indent="0">
              <a:buNone/>
            </a:pPr>
            <a:endParaRPr lang="fr-FR" sz="2200" dirty="0"/>
          </a:p>
          <a:p>
            <a:pPr marL="0" lvl="1" indent="0">
              <a:spcBef>
                <a:spcPts val="1000"/>
              </a:spcBef>
              <a:buNone/>
            </a:pPr>
            <a:r>
              <a:rPr lang="fr-FR" sz="2200" dirty="0"/>
              <a:t>La migration est terminée, vos données sont maintenant dans MongoDB.</a:t>
            </a:r>
          </a:p>
          <a:p>
            <a:pPr lvl="1"/>
            <a:endParaRPr lang="fr-FR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761CE6-4A87-E22B-FD89-223AB62FD2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E201C-1B8B-4DD0-BF50-8F7AF6C91112}" type="datetime1">
              <a:rPr lang="en-GB" smtClean="0"/>
              <a:t>20/02/2026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97E6A1-0442-8096-B78A-3C2623E23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Maintenez et documentez un système de stockage des données sécurisé et performant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E44491-B558-65F5-27F2-ADF6ADF86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4C30A-9459-45DE-9720-B9BD7B8369A6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87088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C75A3-7F90-E80A-5DB0-368BD958C39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Conteneuriser l’application avec Docker 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3BE395-B817-0164-6E58-4C5E9D08E53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 dirty="0"/>
          </a:p>
          <a:p>
            <a:r>
              <a:rPr lang="fr-FR" sz="3200" dirty="0"/>
              <a:t>Concrètement, voici ce qu’on a déjà fait pour cette étape </a:t>
            </a:r>
          </a:p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7ECD85-CA36-C443-B29A-C683990B04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1E14B-197D-40F8-A0DE-3D1DC62B7623}" type="datetime1">
              <a:rPr lang="en-GB" smtClean="0"/>
              <a:t>20/02/2026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77E65-6D50-316A-964C-E6054D87F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Maintenez et documentez un système de stockage des données sécurisé et performant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2F2EC6-EF75-6D85-BEC8-D23F2B76C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4C30A-9459-45DE-9720-B9BD7B8369A6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62377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D651A4-115C-0D8C-244F-7A83E5404B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fr-FR" dirty="0"/>
            </a:br>
            <a:br>
              <a:rPr lang="fr-FR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71140-C480-AEAE-00BA-2772A98E62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5765"/>
            <a:ext cx="10515600" cy="3576917"/>
          </a:xfrm>
        </p:spPr>
        <p:txBody>
          <a:bodyPr/>
          <a:lstStyle/>
          <a:p>
            <a:r>
              <a:rPr lang="fr-FR" dirty="0"/>
              <a:t>Créé un </a:t>
            </a:r>
            <a:r>
              <a:rPr lang="fr-FR" b="1" dirty="0"/>
              <a:t>docker-</a:t>
            </a:r>
            <a:r>
              <a:rPr lang="fr-FR" b="1" dirty="0" err="1"/>
              <a:t>compose.yml</a:t>
            </a:r>
            <a:r>
              <a:rPr lang="fr-FR" dirty="0"/>
              <a:t> pour MongoDB.</a:t>
            </a:r>
          </a:p>
          <a:p>
            <a:r>
              <a:rPr lang="fr-FR" dirty="0"/>
              <a:t>Démarré le conteneur avec docker-compose up -d.</a:t>
            </a:r>
          </a:p>
          <a:p>
            <a:r>
              <a:rPr lang="fr-FR" dirty="0"/>
              <a:t>Vérifié que le conteneur fonctionne (docker </a:t>
            </a:r>
            <a:r>
              <a:rPr lang="fr-FR" dirty="0" err="1"/>
              <a:t>ps</a:t>
            </a:r>
            <a:r>
              <a:rPr lang="fr-FR" dirty="0"/>
              <a:t>) et que la base </a:t>
            </a:r>
            <a:r>
              <a:rPr lang="fr-FR" dirty="0" err="1"/>
              <a:t>medical_db</a:t>
            </a:r>
            <a:r>
              <a:rPr lang="fr-FR" dirty="0"/>
              <a:t> contient les données.</a:t>
            </a:r>
          </a:p>
          <a:p>
            <a:r>
              <a:rPr lang="fr-FR" dirty="0"/>
              <a:t>Utilisé </a:t>
            </a:r>
            <a:r>
              <a:rPr lang="fr-FR" dirty="0" err="1"/>
              <a:t>mongosh</a:t>
            </a:r>
            <a:r>
              <a:rPr lang="fr-FR" dirty="0"/>
              <a:t> pour se connecter et tester les collections.</a:t>
            </a:r>
          </a:p>
          <a:p>
            <a:r>
              <a:rPr lang="fr-FR" dirty="0"/>
              <a:t>Donc on a </a:t>
            </a:r>
            <a:r>
              <a:rPr lang="fr-FR" b="1" dirty="0"/>
              <a:t>contourné le conteneur MongoDB avec succès</a:t>
            </a:r>
            <a:r>
              <a:rPr lang="fr-FR" dirty="0"/>
              <a:t>, ce qui correspond bien à l’étape 2.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92ACC3-1524-B3EF-8AB2-76412E5B26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E201C-1B8B-4DD0-BF50-8F7AF6C91112}" type="datetime1">
              <a:rPr lang="en-GB" smtClean="0"/>
              <a:t>20/02/2026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311E4C-3F90-ECF5-A06B-A245FDB74A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Maintenez et documentez un système de stockage des données sécurisé et performant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5D684D-B2FD-BB9D-0549-F0CC75E41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4C30A-9459-45DE-9720-B9BD7B8369A6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71067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6C930A-3B51-7929-EB95-A155EE0A9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54393"/>
          </a:xfrm>
        </p:spPr>
        <p:txBody>
          <a:bodyPr>
            <a:normAutofit fontScale="90000"/>
          </a:bodyPr>
          <a:lstStyle/>
          <a:p>
            <a:pPr algn="ctr"/>
            <a:br>
              <a:rPr lang="fr-FR" dirty="0"/>
            </a:br>
            <a:r>
              <a:rPr lang="fr-FR" dirty="0"/>
              <a:t>Docker Compose pour déployer MongoDB et la migration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2AA05C-47FA-04CA-7E7F-F2D107D1A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E201C-1B8B-4DD0-BF50-8F7AF6C91112}" type="datetime1">
              <a:rPr lang="en-GB" smtClean="0"/>
              <a:t>20/02/2026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C219A1-1CDF-3AF4-282D-A4C3A5719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Maintenez et documentez un système de stockage des données sécurisé et performant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2D1D5D-4CC6-A5DF-2D2B-558605D41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4C30A-9459-45DE-9720-B9BD7B8369A6}" type="slidenum">
              <a:rPr lang="en-GB" smtClean="0"/>
              <a:t>14</a:t>
            </a:fld>
            <a:endParaRPr lang="en-GB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C321A21A-6ACC-FDD1-D987-E7A4EE537D6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95082" y="1722170"/>
            <a:ext cx="9910483" cy="4001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+mj-lt"/>
                <a:ea typeface="+mj-ea"/>
                <a:cs typeface="+mj-cs"/>
              </a:rPr>
              <a:t>Notre docker-</a:t>
            </a:r>
            <a:r>
              <a:rPr lang="en-US" altLang="en-US" sz="2400" dirty="0" err="1">
                <a:latin typeface="+mj-lt"/>
                <a:ea typeface="+mj-ea"/>
                <a:cs typeface="+mj-cs"/>
              </a:rPr>
              <a:t>compose.yml</a:t>
            </a:r>
            <a:r>
              <a:rPr lang="en-US" altLang="en-US" sz="2400" dirty="0">
                <a:latin typeface="+mj-lt"/>
                <a:ea typeface="+mj-ea"/>
                <a:cs typeface="+mj-cs"/>
              </a:rPr>
              <a:t> </a:t>
            </a:r>
            <a:r>
              <a:rPr lang="en-US" altLang="en-US" sz="2400" dirty="0" err="1">
                <a:latin typeface="+mj-lt"/>
                <a:ea typeface="+mj-ea"/>
                <a:cs typeface="+mj-cs"/>
              </a:rPr>
              <a:t>contient</a:t>
            </a:r>
            <a:r>
              <a:rPr lang="en-US" altLang="en-US" sz="2400" dirty="0">
                <a:latin typeface="+mj-lt"/>
                <a:ea typeface="+mj-ea"/>
                <a:cs typeface="+mj-cs"/>
              </a:rPr>
              <a:t> deux services : </a:t>
            </a:r>
            <a:r>
              <a:rPr lang="en-US" altLang="en-US" sz="2400" dirty="0" err="1">
                <a:latin typeface="+mj-lt"/>
                <a:ea typeface="+mj-ea"/>
                <a:cs typeface="+mj-cs"/>
              </a:rPr>
              <a:t>mongodb</a:t>
            </a:r>
            <a:r>
              <a:rPr lang="en-US" altLang="en-US" sz="2400" dirty="0">
                <a:latin typeface="+mj-lt"/>
                <a:ea typeface="+mj-ea"/>
                <a:cs typeface="+mj-cs"/>
              </a:rPr>
              <a:t> et migration.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2400" dirty="0">
              <a:latin typeface="+mj-lt"/>
              <a:ea typeface="+mj-ea"/>
              <a:cs typeface="+mj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400" dirty="0">
                <a:latin typeface="+mj-lt"/>
                <a:ea typeface="+mj-ea"/>
                <a:cs typeface="+mj-cs"/>
              </a:rPr>
              <a:t>Le service </a:t>
            </a:r>
            <a:r>
              <a:rPr lang="en-US" altLang="en-US" sz="2400" dirty="0" err="1">
                <a:latin typeface="+mj-lt"/>
                <a:ea typeface="+mj-ea"/>
                <a:cs typeface="+mj-cs"/>
              </a:rPr>
              <a:t>mongodb</a:t>
            </a:r>
            <a:r>
              <a:rPr lang="en-US" altLang="en-US" sz="2400" dirty="0">
                <a:latin typeface="+mj-lt"/>
                <a:ea typeface="+mj-ea"/>
                <a:cs typeface="+mj-cs"/>
              </a:rPr>
              <a:t> lance le </a:t>
            </a:r>
            <a:r>
              <a:rPr lang="en-US" altLang="en-US" sz="2400" dirty="0" err="1">
                <a:latin typeface="+mj-lt"/>
                <a:ea typeface="+mj-ea"/>
                <a:cs typeface="+mj-cs"/>
              </a:rPr>
              <a:t>conteneur</a:t>
            </a:r>
            <a:r>
              <a:rPr lang="en-US" altLang="en-US" sz="2400" dirty="0">
                <a:latin typeface="+mj-lt"/>
                <a:ea typeface="+mj-ea"/>
                <a:cs typeface="+mj-cs"/>
              </a:rPr>
              <a:t> MongoDB avec un volume pour </a:t>
            </a:r>
            <a:r>
              <a:rPr lang="en-US" altLang="en-US" sz="2400" dirty="0" err="1">
                <a:latin typeface="+mj-lt"/>
                <a:ea typeface="+mj-ea"/>
                <a:cs typeface="+mj-cs"/>
              </a:rPr>
              <a:t>persister</a:t>
            </a:r>
            <a:r>
              <a:rPr lang="en-US" altLang="en-US" sz="2400" dirty="0">
                <a:latin typeface="+mj-lt"/>
                <a:ea typeface="+mj-ea"/>
                <a:cs typeface="+mj-cs"/>
              </a:rPr>
              <a:t> les données.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2400" dirty="0">
              <a:latin typeface="+mj-lt"/>
              <a:ea typeface="+mj-ea"/>
              <a:cs typeface="+mj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400" dirty="0">
                <a:latin typeface="+mj-lt"/>
                <a:ea typeface="+mj-ea"/>
                <a:cs typeface="+mj-cs"/>
              </a:rPr>
              <a:t>Le service migration </a:t>
            </a:r>
            <a:r>
              <a:rPr lang="en-US" altLang="en-US" sz="2400" dirty="0" err="1">
                <a:latin typeface="+mj-lt"/>
                <a:ea typeface="+mj-ea"/>
                <a:cs typeface="+mj-cs"/>
              </a:rPr>
              <a:t>construit</a:t>
            </a:r>
            <a:r>
              <a:rPr lang="en-US" altLang="en-US" sz="2400" dirty="0">
                <a:latin typeface="+mj-lt"/>
                <a:ea typeface="+mj-ea"/>
                <a:cs typeface="+mj-cs"/>
              </a:rPr>
              <a:t> le </a:t>
            </a:r>
            <a:r>
              <a:rPr lang="en-US" altLang="en-US" sz="2400" dirty="0" err="1">
                <a:latin typeface="+mj-lt"/>
                <a:ea typeface="+mj-ea"/>
                <a:cs typeface="+mj-cs"/>
              </a:rPr>
              <a:t>conteneur</a:t>
            </a:r>
            <a:r>
              <a:rPr lang="en-US" altLang="en-US" sz="2400" dirty="0">
                <a:latin typeface="+mj-lt"/>
                <a:ea typeface="+mj-ea"/>
                <a:cs typeface="+mj-cs"/>
              </a:rPr>
              <a:t> avec </a:t>
            </a:r>
            <a:r>
              <a:rPr lang="en-US" altLang="en-US" sz="2400" dirty="0" err="1">
                <a:latin typeface="+mj-lt"/>
                <a:ea typeface="+mj-ea"/>
                <a:cs typeface="+mj-cs"/>
              </a:rPr>
              <a:t>notre</a:t>
            </a:r>
            <a:r>
              <a:rPr lang="en-US" altLang="en-US" sz="2400" dirty="0">
                <a:latin typeface="+mj-lt"/>
                <a:ea typeface="+mj-ea"/>
                <a:cs typeface="+mj-cs"/>
              </a:rPr>
              <a:t> </a:t>
            </a:r>
            <a:r>
              <a:rPr lang="en-US" altLang="en-US" sz="2400" dirty="0" err="1">
                <a:latin typeface="+mj-lt"/>
                <a:ea typeface="+mj-ea"/>
                <a:cs typeface="+mj-cs"/>
              </a:rPr>
              <a:t>Dockerfile</a:t>
            </a:r>
            <a:r>
              <a:rPr lang="en-US" altLang="en-US" sz="2400" dirty="0">
                <a:latin typeface="+mj-lt"/>
                <a:ea typeface="+mj-ea"/>
                <a:cs typeface="+mj-cs"/>
              </a:rPr>
              <a:t> et </a:t>
            </a:r>
            <a:r>
              <a:rPr lang="en-US" altLang="en-US" sz="2400" dirty="0" err="1">
                <a:latin typeface="+mj-lt"/>
                <a:ea typeface="+mj-ea"/>
                <a:cs typeface="+mj-cs"/>
              </a:rPr>
              <a:t>exécute</a:t>
            </a:r>
            <a:r>
              <a:rPr lang="en-US" altLang="en-US" sz="2400" dirty="0">
                <a:latin typeface="+mj-lt"/>
                <a:ea typeface="+mj-ea"/>
                <a:cs typeface="+mj-cs"/>
              </a:rPr>
              <a:t> migrate.py pour </a:t>
            </a:r>
            <a:r>
              <a:rPr lang="en-US" altLang="en-US" sz="2400" dirty="0" err="1">
                <a:latin typeface="+mj-lt"/>
                <a:ea typeface="+mj-ea"/>
                <a:cs typeface="+mj-cs"/>
              </a:rPr>
              <a:t>insérer</a:t>
            </a:r>
            <a:r>
              <a:rPr lang="en-US" altLang="en-US" sz="2400" dirty="0">
                <a:latin typeface="+mj-lt"/>
                <a:ea typeface="+mj-ea"/>
                <a:cs typeface="+mj-cs"/>
              </a:rPr>
              <a:t> le CSV dans MongoDB.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2400" dirty="0">
              <a:latin typeface="+mj-lt"/>
              <a:ea typeface="+mj-ea"/>
              <a:cs typeface="+mj-cs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fr-FR" sz="2400" dirty="0"/>
              <a:t>Donc “déployer et exécuter notre migration de données au sein de différents conteneurs et/ou volumes” est respecté.</a:t>
            </a:r>
            <a:endParaRPr lang="en-US" altLang="en-US" sz="2400" dirty="0">
              <a:latin typeface="+mj-lt"/>
              <a:ea typeface="+mj-ea"/>
              <a:cs typeface="+mj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56700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34CC28-53F0-9114-A622-9387CB31F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72004"/>
          </a:xfrm>
        </p:spPr>
        <p:txBody>
          <a:bodyPr>
            <a:normAutofit fontScale="90000"/>
          </a:bodyPr>
          <a:lstStyle/>
          <a:p>
            <a:pPr algn="ctr"/>
            <a:br>
              <a:rPr lang="fr-FR" b="1" dirty="0"/>
            </a:br>
            <a:r>
              <a:rPr lang="fr-FR" dirty="0"/>
              <a:t>Démontrer la migration</a:t>
            </a:r>
            <a:br>
              <a:rPr lang="fr-FR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11A95F-7F68-3AEB-8175-CF265A6544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sz="2400" dirty="0"/>
              <a:t>Vous avez lancé les conteneurs avec docker-compose up --</a:t>
            </a:r>
            <a:r>
              <a:rPr lang="fr-FR" sz="2400" dirty="0" err="1"/>
              <a:t>build</a:t>
            </a:r>
            <a:r>
              <a:rPr lang="fr-FR" sz="2400" dirty="0"/>
              <a:t> -d.</a:t>
            </a:r>
          </a:p>
          <a:p>
            <a:r>
              <a:rPr lang="fr-FR" sz="2400" dirty="0"/>
              <a:t>Vous êtes entré dans MongoDB (</a:t>
            </a:r>
            <a:r>
              <a:rPr lang="fr-FR" sz="2400" dirty="0" err="1"/>
              <a:t>mongosh</a:t>
            </a:r>
            <a:r>
              <a:rPr lang="fr-FR" sz="2400" dirty="0"/>
              <a:t>) et vérifié :</a:t>
            </a:r>
          </a:p>
          <a:p>
            <a:pPr lvl="1"/>
            <a:r>
              <a:rPr lang="fr-FR" dirty="0"/>
              <a:t>la base </a:t>
            </a:r>
            <a:r>
              <a:rPr lang="fr-FR" dirty="0" err="1"/>
              <a:t>medical_db</a:t>
            </a:r>
            <a:r>
              <a:rPr lang="fr-FR" dirty="0"/>
              <a:t> existe,</a:t>
            </a:r>
          </a:p>
          <a:p>
            <a:pPr lvl="1"/>
            <a:r>
              <a:rPr lang="fr-FR" dirty="0"/>
              <a:t>la collection patients est créée,</a:t>
            </a:r>
          </a:p>
          <a:p>
            <a:pPr lvl="1"/>
            <a:r>
              <a:rPr lang="fr-FR" dirty="0"/>
              <a:t>le nombre de documents est correct (55500),</a:t>
            </a:r>
          </a:p>
          <a:p>
            <a:pPr lvl="1"/>
            <a:r>
              <a:rPr lang="fr-FR" dirty="0"/>
              <a:t>et nous pouvons afficher les premiers documents (</a:t>
            </a:r>
            <a:r>
              <a:rPr lang="fr-FR" dirty="0" err="1"/>
              <a:t>find</a:t>
            </a:r>
            <a:r>
              <a:rPr lang="fr-FR" dirty="0"/>
              <a:t>().</a:t>
            </a:r>
            <a:r>
              <a:rPr lang="fr-FR" dirty="0" err="1"/>
              <a:t>limit</a:t>
            </a:r>
            <a:r>
              <a:rPr lang="fr-FR" dirty="0"/>
              <a:t>(5).</a:t>
            </a:r>
            <a:r>
              <a:rPr lang="fr-FR" dirty="0" err="1"/>
              <a:t>pretty</a:t>
            </a:r>
            <a:r>
              <a:rPr lang="fr-FR" dirty="0"/>
              <a:t>()).</a:t>
            </a:r>
            <a:endParaRPr lang="en-GB" dirty="0"/>
          </a:p>
          <a:p>
            <a:pPr lvl="1"/>
            <a:endParaRPr lang="en-GB" dirty="0"/>
          </a:p>
          <a:p>
            <a:pPr marL="457200" lvl="1" indent="0">
              <a:buNone/>
            </a:pPr>
            <a:r>
              <a:rPr lang="fr-FR" dirty="0"/>
              <a:t>Donc nous pouvons démontrer que la migration fonctionne.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3F9E30-6FA6-92C5-6636-A6E9A3EA7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E201C-1B8B-4DD0-BF50-8F7AF6C91112}" type="datetime1">
              <a:rPr lang="en-GB" smtClean="0"/>
              <a:t>20/02/2026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EC8CAF-A44D-9DCB-8147-CEEC6961E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Maintenez et documentez un système de stockage des données sécurisé et performant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21BEE0-634C-3C45-41D7-BC3745F54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4C30A-9459-45DE-9720-B9BD7B8369A6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68417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0F116-9CDF-CE38-CCF6-D570457B4D7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err="1"/>
              <a:t>Resumer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36D1E9-613D-A081-62AA-C74159B44F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1E14B-197D-40F8-A0DE-3D1DC62B7623}" type="datetime1">
              <a:rPr lang="en-GB" smtClean="0"/>
              <a:t>20/02/2026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3D3730-D749-1B80-3D29-9BD7CE7C6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Maintenez et documentez un système de stockage des données sécurisé et performant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796B47-AC79-2FC8-81BD-689342F89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4C30A-9459-45DE-9720-B9BD7B8369A6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73492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3873AD-B008-6793-2554-FF40A442AE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79929"/>
            <a:ext cx="10515600" cy="5284695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fr-FR" b="1" i="1" dirty="0"/>
              <a:t>Étape 1 – Préparer l’environnement</a:t>
            </a:r>
          </a:p>
          <a:p>
            <a:pPr algn="ctr"/>
            <a:r>
              <a:rPr lang="fr-FR" dirty="0"/>
              <a:t>Comprendre le besoin, le </a:t>
            </a:r>
            <a:r>
              <a:rPr lang="fr-FR" dirty="0" err="1"/>
              <a:t>dataset</a:t>
            </a:r>
            <a:r>
              <a:rPr lang="fr-FR" dirty="0"/>
              <a:t>, MongoDB, la sécurité, l’objectif du projet.</a:t>
            </a:r>
          </a:p>
          <a:p>
            <a:pPr marL="0" indent="0" algn="ctr">
              <a:buNone/>
            </a:pPr>
            <a:r>
              <a:rPr lang="fr-FR" b="1" i="1" dirty="0"/>
              <a:t>Étape 2 – Docker + MongoDB</a:t>
            </a:r>
          </a:p>
          <a:p>
            <a:pPr algn="ctr"/>
            <a:r>
              <a:rPr lang="fr-FR" dirty="0"/>
              <a:t> Implémentation concrète locale :</a:t>
            </a:r>
          </a:p>
          <a:p>
            <a:pPr algn="ctr"/>
            <a:r>
              <a:rPr lang="fr-FR" dirty="0"/>
              <a:t>MongoDB</a:t>
            </a:r>
          </a:p>
          <a:p>
            <a:pPr algn="ctr"/>
            <a:r>
              <a:rPr lang="fr-FR" dirty="0"/>
              <a:t>Migration des données</a:t>
            </a:r>
          </a:p>
          <a:p>
            <a:pPr algn="ctr"/>
            <a:r>
              <a:rPr lang="fr-FR" dirty="0"/>
              <a:t>Sécurité</a:t>
            </a:r>
          </a:p>
          <a:p>
            <a:pPr algn="ctr"/>
            <a:r>
              <a:rPr lang="fr-FR" dirty="0"/>
              <a:t>Automatisation</a:t>
            </a:r>
            <a:br>
              <a:rPr lang="fr-FR" dirty="0"/>
            </a:br>
            <a:r>
              <a:rPr lang="fr-FR" dirty="0"/>
              <a:t>C’est le cœur du projet évalué</a:t>
            </a:r>
          </a:p>
          <a:p>
            <a:pPr marL="0" indent="0" algn="ctr">
              <a:buNone/>
            </a:pPr>
            <a:r>
              <a:rPr lang="fr-FR" b="1" i="1" dirty="0"/>
              <a:t>Étape 1 et 2 sont directement liées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F2264B-45E3-BDEC-E3EF-A5898FE810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E201C-1B8B-4DD0-BF50-8F7AF6C91112}" type="datetime1">
              <a:rPr lang="en-GB" smtClean="0"/>
              <a:t>20/02/2026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CD417D-F009-0E29-7C5B-91DC8EB2A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Maintenez et documentez un système de stockage des données sécurisé et performant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EDE8CC-F0B5-152D-6B72-4EF42CD5E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4C30A-9459-45DE-9720-B9BD7B8369A6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66033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5EEDB-F630-33B2-0115-CC9AE40568C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err="1"/>
              <a:t>Explorez</a:t>
            </a:r>
            <a:r>
              <a:rPr lang="en-GB" dirty="0"/>
              <a:t> AWS</a:t>
            </a:r>
            <a:br>
              <a:rPr lang="en-GB" dirty="0"/>
            </a:b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2F35AB-6729-3F13-B01A-FFB9F502A8C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fr-FR" b="1" dirty="0"/>
          </a:p>
          <a:p>
            <a:r>
              <a:rPr lang="fr-FR" sz="4400" dirty="0"/>
              <a:t>Méthode pour créer un compte AWS</a:t>
            </a:r>
          </a:p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AA0770-AE5C-0C00-A8DF-9F293975FC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1E14B-197D-40F8-A0DE-3D1DC62B7623}" type="datetime1">
              <a:rPr lang="en-GB" smtClean="0"/>
              <a:t>20/02/2026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639989-A243-0F88-C8BF-ACAA6D38EF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Maintenez et documentez un système de stockage des données sécurisé et performant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D524A-EDEB-1CF1-9440-2B04D740D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4C30A-9459-45DE-9720-B9BD7B8369A6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39241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3EE86-1490-A678-A24E-79C5AE813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27499"/>
          </a:xfrm>
        </p:spPr>
        <p:txBody>
          <a:bodyPr/>
          <a:lstStyle/>
          <a:p>
            <a:pPr algn="ctr"/>
            <a:r>
              <a:rPr lang="en-GB" dirty="0"/>
              <a:t>Objectif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EF1029-3796-E4A3-52AD-1B833FD26A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082551"/>
          </a:xfrm>
        </p:spPr>
        <p:txBody>
          <a:bodyPr/>
          <a:lstStyle/>
          <a:p>
            <a:pPr marL="0" indent="0">
              <a:buNone/>
            </a:pPr>
            <a:r>
              <a:rPr lang="fr-FR" b="1" dirty="0"/>
              <a:t>Produire une documentation</a:t>
            </a:r>
            <a:r>
              <a:rPr lang="fr-FR" dirty="0"/>
              <a:t> (texte) qui explique :</a:t>
            </a:r>
          </a:p>
          <a:p>
            <a:r>
              <a:rPr lang="fr-FR" dirty="0"/>
              <a:t>pourquoi passer au cloud</a:t>
            </a:r>
          </a:p>
          <a:p>
            <a:r>
              <a:rPr lang="fr-FR" dirty="0"/>
              <a:t>quels services AWS peuvent héberger MongoDB</a:t>
            </a:r>
          </a:p>
          <a:p>
            <a:r>
              <a:rPr lang="fr-FR" b="1" dirty="0"/>
              <a:t>sans créer de compte AWS</a:t>
            </a:r>
            <a:endParaRPr lang="fr-FR" dirty="0"/>
          </a:p>
          <a:p>
            <a:r>
              <a:rPr lang="fr-FR" b="1" dirty="0"/>
              <a:t>sans déploiement</a:t>
            </a:r>
            <a:endParaRPr lang="fr-FR" dirty="0"/>
          </a:p>
          <a:p>
            <a:r>
              <a:rPr lang="fr-FR" b="1" dirty="0"/>
              <a:t>sans code</a:t>
            </a:r>
            <a:endParaRPr lang="fr-FR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3167CD-A121-5B5B-669D-5D8FC40D9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E201C-1B8B-4DD0-BF50-8F7AF6C91112}" type="datetime1">
              <a:rPr lang="en-GB" smtClean="0"/>
              <a:t>20/02/2026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AE34C5-1703-16A5-7669-78F742B31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Maintenez et documentez un système de stockage des données sécurisé et performant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DACBDA-F66A-2E5C-C9DE-4310981EC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4C30A-9459-45DE-9720-B9BD7B8369A6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93171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39DB1-8748-CB4A-2B66-0AFE9332B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1976" y="365126"/>
            <a:ext cx="9399495" cy="912344"/>
          </a:xfrm>
        </p:spPr>
        <p:txBody>
          <a:bodyPr/>
          <a:lstStyle/>
          <a:p>
            <a:pPr algn="ctr"/>
            <a:r>
              <a:rPr lang="fr-FR" dirty="0"/>
              <a:t>Ordre officiel des points à documenter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4F6E06-7261-15EB-B4A7-3B4D41DB3A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1942" y="1398496"/>
            <a:ext cx="8659906" cy="41820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/>
              <a:t>Nous allons les traiter </a:t>
            </a:r>
            <a:r>
              <a:rPr lang="fr-FR" b="1" dirty="0"/>
              <a:t>dans cet ordre</a:t>
            </a:r>
            <a:r>
              <a:rPr lang="fr-FR" dirty="0"/>
              <a:t>, </a:t>
            </a:r>
            <a:r>
              <a:rPr lang="fr-FR" b="1" dirty="0"/>
              <a:t>un par un</a:t>
            </a:r>
            <a:r>
              <a:rPr lang="fr-FR" dirty="0"/>
              <a:t> :</a:t>
            </a:r>
          </a:p>
          <a:p>
            <a:pPr>
              <a:buFontTx/>
              <a:buChar char="-"/>
            </a:pPr>
            <a:r>
              <a:rPr lang="fr-FR" dirty="0"/>
              <a:t>Pourquoi passer au cloud (ordinateur vs serveur)</a:t>
            </a:r>
          </a:p>
          <a:p>
            <a:pPr>
              <a:buFontTx/>
              <a:buChar char="-"/>
            </a:pPr>
            <a:r>
              <a:rPr lang="fr-FR" dirty="0"/>
              <a:t>Méthode pour créer un compte AWS </a:t>
            </a:r>
            <a:r>
              <a:rPr lang="fr-FR" i="1" dirty="0"/>
              <a:t>(théorique)</a:t>
            </a:r>
          </a:p>
          <a:p>
            <a:pPr>
              <a:buFontTx/>
              <a:buChar char="-"/>
            </a:pPr>
            <a:r>
              <a:rPr lang="fr-FR" dirty="0"/>
              <a:t>Tarification AWS </a:t>
            </a:r>
            <a:r>
              <a:rPr lang="fr-FR" i="1" dirty="0"/>
              <a:t>(principe général)</a:t>
            </a:r>
          </a:p>
          <a:p>
            <a:pPr>
              <a:buFontTx/>
              <a:buChar char="-"/>
            </a:pPr>
            <a:r>
              <a:rPr lang="fr-FR" dirty="0"/>
              <a:t>MongoDB sur AWS : </a:t>
            </a:r>
          </a:p>
          <a:p>
            <a:pPr lvl="1">
              <a:buFontTx/>
              <a:buChar char="-"/>
            </a:pPr>
            <a:r>
              <a:rPr lang="fr-FR" dirty="0"/>
              <a:t>Amazon </a:t>
            </a:r>
            <a:r>
              <a:rPr lang="fr-FR" dirty="0" err="1"/>
              <a:t>DocumentDB</a:t>
            </a:r>
            <a:r>
              <a:rPr lang="fr-FR" dirty="0"/>
              <a:t> </a:t>
            </a:r>
          </a:p>
          <a:p>
            <a:pPr lvl="1">
              <a:buFontTx/>
              <a:buChar char="-"/>
            </a:pPr>
            <a:r>
              <a:rPr lang="fr-FR" dirty="0"/>
              <a:t>MongoDB via EC2 / ECS</a:t>
            </a:r>
          </a:p>
          <a:p>
            <a:pPr lvl="2">
              <a:buFontTx/>
              <a:buChar char="-"/>
            </a:pPr>
            <a:r>
              <a:rPr lang="en-GB" dirty="0"/>
              <a:t>Docker + MongoDB sur Amazon ECS </a:t>
            </a:r>
            <a:r>
              <a:rPr lang="en-GB" i="1" dirty="0"/>
              <a:t>(</a:t>
            </a:r>
            <a:r>
              <a:rPr lang="en-GB" i="1" dirty="0" err="1"/>
              <a:t>principe</a:t>
            </a:r>
            <a:r>
              <a:rPr lang="en-GB" i="1" dirty="0"/>
              <a:t>)</a:t>
            </a:r>
          </a:p>
          <a:p>
            <a:pPr lvl="2">
              <a:buFontTx/>
              <a:buChar char="-"/>
            </a:pPr>
            <a:r>
              <a:rPr lang="en-GB" dirty="0" err="1"/>
              <a:t>Sauvegardes</a:t>
            </a:r>
            <a:r>
              <a:rPr lang="en-GB" dirty="0"/>
              <a:t> et monitoring sur AWS</a:t>
            </a: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E93390-667F-5515-8308-AD1BCDE87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E201C-1B8B-4DD0-BF50-8F7AF6C91112}" type="datetime1">
              <a:rPr lang="en-GB" smtClean="0"/>
              <a:t>20/02/2026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4DE37A-171C-F5C5-D8B9-1F39BED66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Maintenez et documentez un système de stockage des données sécurisé et performant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C09794-0181-31F0-196D-0E13107BE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4C30A-9459-45DE-9720-B9BD7B8369A6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46335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F629A-7F9F-6632-E542-589B0584030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Pourquoi passer au cloud</a:t>
            </a:r>
            <a:br>
              <a:rPr lang="fr-FR" dirty="0"/>
            </a:b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650802-14FC-222B-C998-1EF698C829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53235" y="2918012"/>
            <a:ext cx="7221072" cy="2030506"/>
          </a:xfrm>
        </p:spPr>
        <p:txBody>
          <a:bodyPr>
            <a:normAutofit/>
          </a:bodyPr>
          <a:lstStyle/>
          <a:p>
            <a:endParaRPr lang="fr-FR" sz="4000" dirty="0"/>
          </a:p>
          <a:p>
            <a:r>
              <a:rPr lang="fr-FR" sz="4000" dirty="0"/>
              <a:t>(ordinateur vs serveur)</a:t>
            </a:r>
            <a:endParaRPr lang="en-GB" sz="4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9B1D89-3BD7-79FE-FB9E-DE58C21F30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1E14B-197D-40F8-A0DE-3D1DC62B7623}" type="datetime1">
              <a:rPr lang="en-GB" smtClean="0"/>
              <a:t>20/02/2026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7CF50E-A178-D5D8-2F80-B74B61D9E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Maintenez et documentez un système de stockage des données sécurisé et performant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A414C3-9C48-AD76-942D-5138FB45E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4C30A-9459-45DE-9720-B9BD7B8369A6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14303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60E6E0-9CED-7574-3E19-2E7548D17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00604"/>
          </a:xfrm>
        </p:spPr>
        <p:txBody>
          <a:bodyPr>
            <a:normAutofit/>
          </a:bodyPr>
          <a:lstStyle/>
          <a:p>
            <a:pPr algn="ctr"/>
            <a:r>
              <a:rPr lang="en-GB" sz="4800" dirty="0" err="1"/>
              <a:t>Ordinateur</a:t>
            </a:r>
            <a:r>
              <a:rPr lang="en-GB" sz="4800" dirty="0"/>
              <a:t> (local)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73E69E-934A-354E-1CF4-2F7AF87C06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6752" y="2057400"/>
            <a:ext cx="8108577" cy="2743200"/>
          </a:xfrm>
        </p:spPr>
        <p:txBody>
          <a:bodyPr/>
          <a:lstStyle/>
          <a:p>
            <a:pPr marL="0" indent="0">
              <a:buNone/>
            </a:pPr>
            <a:r>
              <a:rPr lang="fr-FR" dirty="0"/>
              <a:t>Fonctionne seulement quand il est allumé</a:t>
            </a:r>
          </a:p>
          <a:p>
            <a:pPr marL="0" indent="0">
              <a:buNone/>
            </a:pPr>
            <a:r>
              <a:rPr lang="fr-FR" dirty="0"/>
              <a:t>Ressources limitées (CPU, RAM, disque)</a:t>
            </a:r>
          </a:p>
          <a:p>
            <a:pPr marL="0" indent="0">
              <a:buNone/>
            </a:pPr>
            <a:r>
              <a:rPr lang="fr-FR" dirty="0"/>
              <a:t>Pas accessible facilement à distance</a:t>
            </a:r>
          </a:p>
          <a:p>
            <a:pPr marL="0" indent="0">
              <a:buNone/>
            </a:pPr>
            <a:r>
              <a:rPr lang="fr-FR" dirty="0"/>
              <a:t>Risque de perte de données</a:t>
            </a:r>
          </a:p>
          <a:p>
            <a:pPr marL="0" indent="0">
              <a:buNone/>
            </a:pPr>
            <a:r>
              <a:rPr lang="fr-FR" dirty="0"/>
              <a:t>Pas conçu pour la production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BC28F3-55E0-67BF-7C9A-76D0621D1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E201C-1B8B-4DD0-BF50-8F7AF6C91112}" type="datetime1">
              <a:rPr lang="en-GB" smtClean="0"/>
              <a:t>20/02/2026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31A129-8E34-819B-7378-EA3141E7DC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Maintenez et documentez un système de stockage des données sécurisé et performant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9AE918-D8DE-DB00-1CD7-97355903A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4C30A-9459-45DE-9720-B9BD7B8369A6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66467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DF2B7-BC36-0B45-A4DC-D053686B8C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 err="1"/>
              <a:t>Serveur</a:t>
            </a:r>
            <a:r>
              <a:rPr lang="en-GB" dirty="0"/>
              <a:t> (cloud)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FA5D28-B9FC-2123-AE42-52984BD36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75964" y="1825625"/>
            <a:ext cx="6387353" cy="2544669"/>
          </a:xfrm>
        </p:spPr>
        <p:txBody>
          <a:bodyPr/>
          <a:lstStyle/>
          <a:p>
            <a:pPr marL="0" indent="0">
              <a:buNone/>
            </a:pPr>
            <a:r>
              <a:rPr lang="fr-FR" dirty="0"/>
              <a:t>Disponible 24h/24</a:t>
            </a:r>
          </a:p>
          <a:p>
            <a:pPr marL="0" indent="0">
              <a:buNone/>
            </a:pPr>
            <a:r>
              <a:rPr lang="fr-FR" dirty="0"/>
              <a:t>Accessible depuis Internet</a:t>
            </a:r>
          </a:p>
          <a:p>
            <a:pPr marL="0" indent="0">
              <a:buNone/>
            </a:pPr>
            <a:r>
              <a:rPr lang="fr-FR" dirty="0"/>
              <a:t>Ressources ajustables (scalable)</a:t>
            </a:r>
          </a:p>
          <a:p>
            <a:pPr marL="0" indent="0">
              <a:buNone/>
            </a:pPr>
            <a:r>
              <a:rPr lang="fr-FR" dirty="0"/>
              <a:t>Sauvegardes automatiques possibles</a:t>
            </a:r>
          </a:p>
          <a:p>
            <a:pPr marL="0" indent="0">
              <a:buNone/>
            </a:pPr>
            <a:r>
              <a:rPr lang="fr-FR" dirty="0"/>
              <a:t>Sécurité et surveillance intégrées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8E3F4C-91BF-FAB6-A049-EE2943421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E201C-1B8B-4DD0-BF50-8F7AF6C91112}" type="datetime1">
              <a:rPr lang="en-GB" smtClean="0"/>
              <a:t>20/02/2026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E61A39-8FC4-95E7-683D-6A8FC4473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Maintenez et documentez un système de stockage des données sécurisé et performant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70CD0C-01BA-023A-2270-5B97626DC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4C30A-9459-45DE-9720-B9BD7B8369A6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73622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DC846-0AD4-2A81-9752-A5847F0F41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22176" y="712694"/>
            <a:ext cx="6602506" cy="2138082"/>
          </a:xfrm>
        </p:spPr>
        <p:txBody>
          <a:bodyPr>
            <a:normAutofit/>
          </a:bodyPr>
          <a:lstStyle/>
          <a:p>
            <a:r>
              <a:rPr lang="en-GB" dirty="0"/>
              <a:t>Conclusion pour le client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22627F-9D1B-26D6-36DE-A932422D23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72553" y="3550024"/>
            <a:ext cx="8216153" cy="900952"/>
          </a:xfrm>
        </p:spPr>
        <p:txBody>
          <a:bodyPr>
            <a:normAutofit/>
          </a:bodyPr>
          <a:lstStyle/>
          <a:p>
            <a:r>
              <a:rPr lang="fr-FR" sz="2600" dirty="0"/>
              <a:t>Le cloud permet d’avoir une base MongoDB fiable, sécurisée, scalable, sans gérer l’infrastructure physique</a:t>
            </a:r>
            <a:r>
              <a:rPr lang="fr-FR" dirty="0"/>
              <a:t>.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33AE62-AAB4-24A8-F6A4-CE232620A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1E14B-197D-40F8-A0DE-3D1DC62B7623}" type="datetime1">
              <a:rPr lang="en-GB" smtClean="0"/>
              <a:t>20/02/2026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A11FBF-B1EA-A88F-9B87-E0352C3F3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Maintenez et documentez un système de stockage des données sécurisé et performant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D31F04-EA59-0AD3-18EE-E19535E7B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4C30A-9459-45DE-9720-B9BD7B8369A6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05602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ED508-8739-ABF9-1BB3-D5E12E9BD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br>
              <a:rPr lang="fr-FR" dirty="0"/>
            </a:br>
            <a:r>
              <a:rPr lang="fr-FR" dirty="0"/>
              <a:t>Point 2 : Méthode pour créer un compte AWS</a:t>
            </a:r>
            <a:br>
              <a:rPr lang="en-GB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755007-0F9C-0951-7DAA-B7FC5C0424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64976"/>
            <a:ext cx="10515600" cy="3119717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fr-FR" i="1" dirty="0"/>
          </a:p>
          <a:p>
            <a:pPr marL="0" indent="0" algn="ctr">
              <a:buNone/>
            </a:pPr>
            <a:r>
              <a:rPr lang="fr-FR" i="1" dirty="0"/>
              <a:t>(théorique uniquement, sans inscription)</a:t>
            </a:r>
            <a:endParaRPr lang="fr-FR" dirty="0"/>
          </a:p>
          <a:p>
            <a:pPr marL="0" indent="0" algn="ctr">
              <a:buNone/>
            </a:pPr>
            <a:r>
              <a:rPr lang="fr-FR" dirty="0"/>
              <a:t>Principe général</a:t>
            </a:r>
          </a:p>
          <a:p>
            <a:pPr marL="0" indent="0" algn="ctr">
              <a:buNone/>
            </a:pPr>
            <a:r>
              <a:rPr lang="fr-FR" dirty="0"/>
              <a:t>Créer un compte AWS permet d’accéder aux services cloud d’Amazon (serveurs, bases de données, stockage, etc.).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CF7842-2986-1E32-C08A-ED206A57BC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E201C-1B8B-4DD0-BF50-8F7AF6C91112}" type="datetime1">
              <a:rPr lang="en-GB" smtClean="0"/>
              <a:t>20/02/2026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DBD5EC-DB6E-C749-C412-F08525F08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Maintenez et documentez un système de stockage des données sécurisé et performant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D0DC01-2842-34D8-54E3-73280695B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4C30A-9459-45DE-9720-B9BD7B8369A6}" type="slidenum">
              <a:rPr lang="en-GB" smtClean="0"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96575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304578-2FD9-91CE-4A5F-0CE0CBC73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br>
              <a:rPr lang="fr-FR" b="1" dirty="0"/>
            </a:br>
            <a:r>
              <a:rPr lang="fr-FR" dirty="0"/>
              <a:t>Étapes théoriques (ce que ferait un client)</a:t>
            </a:r>
            <a:br>
              <a:rPr lang="fr-FR" b="1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563F3B-6051-78AD-4705-1630499E1A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dirty="0"/>
              <a:t>Aller sur le site officiel d’AWS</a:t>
            </a:r>
          </a:p>
          <a:p>
            <a:r>
              <a:rPr lang="fr-FR" dirty="0"/>
              <a:t>Cliquer sur </a:t>
            </a:r>
            <a:r>
              <a:rPr lang="fr-FR" b="1" dirty="0"/>
              <a:t>Créer un compte</a:t>
            </a:r>
            <a:endParaRPr lang="fr-FR" dirty="0"/>
          </a:p>
          <a:p>
            <a:r>
              <a:rPr lang="fr-FR" dirty="0"/>
              <a:t>Fournir :</a:t>
            </a:r>
          </a:p>
          <a:p>
            <a:pPr lvl="1"/>
            <a:r>
              <a:rPr lang="fr-FR" dirty="0"/>
              <a:t>une adresse email</a:t>
            </a:r>
          </a:p>
          <a:p>
            <a:pPr lvl="1"/>
            <a:r>
              <a:rPr lang="fr-FR" dirty="0"/>
              <a:t>un mot de passe</a:t>
            </a:r>
          </a:p>
          <a:p>
            <a:r>
              <a:rPr lang="fr-FR" dirty="0"/>
              <a:t>Renseigner des informations de facturation</a:t>
            </a:r>
            <a:br>
              <a:rPr lang="fr-FR" dirty="0"/>
            </a:br>
            <a:r>
              <a:rPr lang="fr-FR" i="1" dirty="0"/>
              <a:t>(car AWS fonctionne à l’usage)</a:t>
            </a:r>
            <a:endParaRPr lang="fr-FR" dirty="0"/>
          </a:p>
          <a:p>
            <a:r>
              <a:rPr lang="fr-FR" dirty="0"/>
              <a:t>Vérifier son identité (SMS ou appel)</a:t>
            </a:r>
          </a:p>
          <a:p>
            <a:r>
              <a:rPr lang="fr-FR" dirty="0"/>
              <a:t>Choisir un plan (le plus souvent </a:t>
            </a:r>
            <a:r>
              <a:rPr lang="fr-FR" b="1" dirty="0"/>
              <a:t>Free Tier</a:t>
            </a:r>
            <a:r>
              <a:rPr lang="fr-FR" dirty="0"/>
              <a:t> au début)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767F27-8438-CE28-63A1-7DFB5D76D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E201C-1B8B-4DD0-BF50-8F7AF6C91112}" type="datetime1">
              <a:rPr lang="en-GB" smtClean="0"/>
              <a:t>20/02/2026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7B5E51-ACB1-B39C-78A8-3EE688E9B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Maintenez et documentez un système de stockage des données sécurisé et performant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925D3A-C43B-5819-904A-0DE747114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4C30A-9459-45DE-9720-B9BD7B8369A6}" type="slidenum">
              <a:rPr lang="en-GB" smtClean="0"/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239576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88B8E7-A51E-716B-D224-149F06DB6F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br>
              <a:rPr lang="fr-FR" dirty="0"/>
            </a:br>
            <a:r>
              <a:rPr lang="fr-FR" dirty="0"/>
              <a:t>Point important pour la mission</a:t>
            </a:r>
            <a:br>
              <a:rPr lang="fr-FR" b="1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84FEFD-1ADC-1B69-04E2-25EAB3270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84294" y="2635623"/>
            <a:ext cx="8633012" cy="1909483"/>
          </a:xfrm>
        </p:spPr>
        <p:txBody>
          <a:bodyPr/>
          <a:lstStyle/>
          <a:p>
            <a:r>
              <a:rPr lang="fr-FR" dirty="0"/>
              <a:t>Aucune inscription réelle n’est obligatoire</a:t>
            </a:r>
          </a:p>
          <a:p>
            <a:r>
              <a:rPr lang="fr-FR" dirty="0"/>
              <a:t>Il suffit d’expliquer la démarche</a:t>
            </a:r>
          </a:p>
          <a:p>
            <a:r>
              <a:rPr lang="fr-FR" dirty="0"/>
              <a:t>L’objectif est que le client comprenne comment il pourrait le faire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BDF65E-7913-5D51-22AF-1890CFD4D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E201C-1B8B-4DD0-BF50-8F7AF6C91112}" type="datetime1">
              <a:rPr lang="en-GB" smtClean="0"/>
              <a:t>20/02/2026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0CE7B6-9E56-20D2-D4ED-397E4508B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Maintenez et documentez un système de stockage des données sécurisé et performant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73BF3A-E7DF-40EB-6986-4A075CE60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4C30A-9459-45DE-9720-B9BD7B8369A6}" type="slidenum">
              <a:rPr lang="en-GB" smtClean="0"/>
              <a:t>27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19287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340A7-3BB0-52D0-59B0-78686A08C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br>
              <a:rPr lang="fr-FR" b="1" dirty="0"/>
            </a:br>
            <a:r>
              <a:rPr lang="fr-FR" dirty="0"/>
              <a:t>Point 3 : Tarification d’AWS</a:t>
            </a:r>
            <a:br>
              <a:rPr lang="fr-FR" b="1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2B7C35-7C31-CEEE-93FA-D6D976F64A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2964" y="2218765"/>
            <a:ext cx="9291917" cy="24608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/>
              <a:t>Principe général</a:t>
            </a:r>
          </a:p>
          <a:p>
            <a:pPr marL="0" indent="0">
              <a:buNone/>
            </a:pPr>
            <a:r>
              <a:rPr lang="fr-FR" dirty="0"/>
              <a:t>AWS fonctionne selon le modèle </a:t>
            </a:r>
            <a:r>
              <a:rPr lang="fr-FR" dirty="0" err="1"/>
              <a:t>pay</a:t>
            </a:r>
            <a:r>
              <a:rPr lang="fr-FR" dirty="0"/>
              <a:t>-as-</a:t>
            </a:r>
            <a:r>
              <a:rPr lang="fr-FR" dirty="0" err="1"/>
              <a:t>you</a:t>
            </a:r>
            <a:r>
              <a:rPr lang="fr-FR" dirty="0"/>
              <a:t>-go :</a:t>
            </a:r>
          </a:p>
          <a:p>
            <a:r>
              <a:rPr lang="fr-FR" dirty="0"/>
              <a:t>on paie uniquement ce que l’on utilise</a:t>
            </a:r>
          </a:p>
          <a:p>
            <a:r>
              <a:rPr lang="fr-FR" dirty="0"/>
              <a:t>pas d’abonnement fixe obligatoire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8531A7-166A-8EE9-FCD1-411C0CE6A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E201C-1B8B-4DD0-BF50-8F7AF6C91112}" type="datetime1">
              <a:rPr lang="en-GB" smtClean="0"/>
              <a:t>20/02/2026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F862C2-F904-DCCD-8CC3-B74F5C202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Maintenez et documentez un système de stockage des données sécurisé et performant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1C6693-BF60-56B9-712A-8D2F057D2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4C30A-9459-45DE-9720-B9BD7B8369A6}" type="slidenum">
              <a:rPr lang="en-GB" smtClean="0"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089171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4A89C-9845-AE6C-DFFF-234465042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br>
              <a:rPr lang="fr-FR" b="1" dirty="0"/>
            </a:br>
            <a:r>
              <a:rPr lang="fr-FR" b="1" dirty="0"/>
              <a:t>Ce qui influence le prix</a:t>
            </a:r>
            <a:br>
              <a:rPr lang="fr-FR" b="1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619396-15C8-033A-EC93-D76DED4FA4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2282" y="1690689"/>
            <a:ext cx="8148918" cy="2908205"/>
          </a:xfrm>
        </p:spPr>
        <p:txBody>
          <a:bodyPr/>
          <a:lstStyle/>
          <a:p>
            <a:r>
              <a:rPr lang="fr-FR" b="1" dirty="0"/>
              <a:t>Type de service</a:t>
            </a:r>
            <a:r>
              <a:rPr lang="fr-FR" dirty="0"/>
              <a:t> utilisé</a:t>
            </a:r>
            <a:br>
              <a:rPr lang="fr-FR" dirty="0"/>
            </a:br>
            <a:r>
              <a:rPr lang="fr-FR" dirty="0"/>
              <a:t>(serveur, base de données, stockage, etc.)</a:t>
            </a:r>
          </a:p>
          <a:p>
            <a:r>
              <a:rPr lang="fr-FR" b="1" dirty="0"/>
              <a:t>Durée d’utilisation</a:t>
            </a:r>
            <a:br>
              <a:rPr lang="fr-FR" dirty="0"/>
            </a:br>
            <a:r>
              <a:rPr lang="fr-FR" dirty="0"/>
              <a:t>(heures, jours, mois)</a:t>
            </a:r>
          </a:p>
          <a:p>
            <a:r>
              <a:rPr lang="fr-FR" b="1" dirty="0"/>
              <a:t>Capacité</a:t>
            </a:r>
            <a:br>
              <a:rPr lang="fr-FR" dirty="0"/>
            </a:br>
            <a:r>
              <a:rPr lang="fr-FR" dirty="0"/>
              <a:t>(mémoire, stockage, nombre de requêtes)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655E58-5913-FC85-0EC3-EA42B37DE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E201C-1B8B-4DD0-BF50-8F7AF6C91112}" type="datetime1">
              <a:rPr lang="en-GB" smtClean="0"/>
              <a:t>20/02/2026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3356D0-03E7-78E0-A042-2A1D5D2C51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Maintenez et documentez un système de stockage des données sécurisé et performant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D9AB5D-F938-2A8F-DA2D-BB686B067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4C30A-9459-45DE-9720-B9BD7B8369A6}" type="slidenum">
              <a:rPr lang="en-GB" smtClean="0"/>
              <a:t>29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2939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721A9-2F3A-E20B-69B0-C39656259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60263"/>
          </a:xfrm>
        </p:spPr>
        <p:txBody>
          <a:bodyPr>
            <a:normAutofit fontScale="90000"/>
          </a:bodyPr>
          <a:lstStyle/>
          <a:p>
            <a:pPr algn="ctr"/>
            <a:br>
              <a:rPr lang="fr-FR" b="1" dirty="0"/>
            </a:br>
            <a:r>
              <a:rPr lang="fr-FR" b="1" dirty="0"/>
              <a:t>Free Tier (important)</a:t>
            </a:r>
            <a:br>
              <a:rPr lang="fr-FR" b="1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6D0CE1-5771-D543-202B-4EF33040FB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840504"/>
          </a:xfrm>
        </p:spPr>
        <p:txBody>
          <a:bodyPr/>
          <a:lstStyle/>
          <a:p>
            <a:r>
              <a:rPr lang="fr-FR" dirty="0"/>
              <a:t>AWS propose une </a:t>
            </a:r>
            <a:r>
              <a:rPr lang="fr-FR" b="1" dirty="0"/>
              <a:t>offre gratuite limitée</a:t>
            </a:r>
            <a:r>
              <a:rPr lang="fr-FR" dirty="0"/>
              <a:t> :</a:t>
            </a:r>
          </a:p>
          <a:p>
            <a:r>
              <a:rPr lang="fr-FR" dirty="0"/>
              <a:t>valable </a:t>
            </a:r>
            <a:r>
              <a:rPr lang="fr-FR" b="1" dirty="0"/>
              <a:t>12 mois</a:t>
            </a:r>
            <a:endParaRPr lang="fr-FR" dirty="0"/>
          </a:p>
          <a:p>
            <a:r>
              <a:rPr lang="fr-FR" dirty="0"/>
              <a:t>suffisante pour :</a:t>
            </a:r>
          </a:p>
          <a:p>
            <a:pPr lvl="1"/>
            <a:r>
              <a:rPr lang="fr-FR" dirty="0"/>
              <a:t>tests</a:t>
            </a:r>
          </a:p>
          <a:p>
            <a:pPr lvl="1"/>
            <a:r>
              <a:rPr lang="fr-FR" dirty="0"/>
              <a:t>apprentissage</a:t>
            </a:r>
          </a:p>
          <a:p>
            <a:pPr lvl="1"/>
            <a:r>
              <a:rPr lang="fr-FR" dirty="0"/>
              <a:t>petits projets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A4500A-9FD9-93A0-F690-7E7D9E07FB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E201C-1B8B-4DD0-BF50-8F7AF6C91112}" type="datetime1">
              <a:rPr lang="en-GB" smtClean="0"/>
              <a:t>20/02/2026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02806E-7D6A-1116-B675-E3CF60378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Maintenez et documentez un système de stockage des données sécurisé et performant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A70AA5-8A8C-0527-1F6D-4E18C1F55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4C30A-9459-45DE-9720-B9BD7B8369A6}" type="slidenum">
              <a:rPr lang="en-GB" smtClean="0"/>
              <a:t>30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710774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DBC41-6E90-0C3E-8360-EFE7FE74C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27499"/>
          </a:xfrm>
        </p:spPr>
        <p:txBody>
          <a:bodyPr>
            <a:normAutofit fontScale="90000"/>
          </a:bodyPr>
          <a:lstStyle/>
          <a:p>
            <a:pPr algn="ctr"/>
            <a:br>
              <a:rPr lang="fr-FR" b="1" dirty="0"/>
            </a:br>
            <a:r>
              <a:rPr lang="fr-FR" b="1" dirty="0"/>
              <a:t>Exemple lié à ton projet</a:t>
            </a:r>
            <a:br>
              <a:rPr lang="fr-FR" b="1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7CC208-564C-DBEF-1AC2-E93CD18790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MongoDB managé (</a:t>
            </a:r>
            <a:r>
              <a:rPr lang="fr-FR" dirty="0" err="1"/>
              <a:t>DocumentDB</a:t>
            </a:r>
            <a:r>
              <a:rPr lang="fr-FR" dirty="0"/>
              <a:t>) → </a:t>
            </a:r>
            <a:r>
              <a:rPr lang="fr-FR" b="1" dirty="0"/>
              <a:t>payant</a:t>
            </a:r>
            <a:endParaRPr lang="fr-FR" dirty="0"/>
          </a:p>
          <a:p>
            <a:r>
              <a:rPr lang="fr-FR" dirty="0"/>
              <a:t>Serveur Docker sur ECS → </a:t>
            </a:r>
            <a:r>
              <a:rPr lang="fr-FR" b="1" dirty="0"/>
              <a:t>payant</a:t>
            </a:r>
            <a:endParaRPr lang="fr-FR" dirty="0"/>
          </a:p>
          <a:p>
            <a:r>
              <a:rPr lang="fr-FR" dirty="0"/>
              <a:t>Sauvegardes et monitoring → </a:t>
            </a:r>
            <a:r>
              <a:rPr lang="fr-FR" b="1" dirty="0"/>
              <a:t>payants</a:t>
            </a:r>
            <a:br>
              <a:rPr lang="fr-FR" dirty="0"/>
            </a:br>
            <a:endParaRPr lang="fr-FR" dirty="0"/>
          </a:p>
          <a:p>
            <a:pPr marL="0" indent="0">
              <a:buNone/>
            </a:pPr>
            <a:r>
              <a:rPr lang="fr-FR" dirty="0"/>
              <a:t>D’où l’intérêt de </a:t>
            </a:r>
            <a:r>
              <a:rPr lang="fr-FR" b="1" dirty="0"/>
              <a:t>bien estimer les besoins avant migration</a:t>
            </a:r>
            <a:endParaRPr lang="fr-FR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0A2351-F0C9-4FCF-6165-4BA7D8D7C0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E201C-1B8B-4DD0-BF50-8F7AF6C91112}" type="datetime1">
              <a:rPr lang="en-GB" smtClean="0"/>
              <a:t>20/02/2026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3223E5-394F-6A86-F54F-1F5101991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Maintenez et documentez un système de stockage des données sécurisé et performant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2B3D50-983B-ABE5-2173-861CA0328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4C30A-9459-45DE-9720-B9BD7B8369A6}" type="slidenum">
              <a:rPr lang="en-GB" smtClean="0"/>
              <a:t>31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621078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BD8A3-2D8B-480C-CC64-630DBCA4ABF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Message clé pour le client</a:t>
            </a:r>
            <a:br>
              <a:rPr lang="fr-FR" b="1" dirty="0"/>
            </a:b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956611-A124-1046-4F65-DB9822A034F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fr-FR" sz="3600" dirty="0"/>
              <a:t>Le cloud permet de maîtriser les coûts, mais nécessite une bonne anticipation de l’usage.</a:t>
            </a:r>
            <a:br>
              <a:rPr lang="fr-FR" sz="3600" dirty="0"/>
            </a:br>
            <a:endParaRPr lang="en-GB" sz="3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61CA80-FD88-79A1-AFC1-610EF9746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1E14B-197D-40F8-A0DE-3D1DC62B7623}" type="datetime1">
              <a:rPr lang="en-GB" smtClean="0"/>
              <a:t>20/02/2026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F58F36-D487-A13C-B4DE-918AE4E83D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Maintenez et documentez un système de stockage des données sécurisé et performant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DD1572-033E-138E-DBF5-E507D93299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4C30A-9459-45DE-9720-B9BD7B8369A6}" type="slidenum">
              <a:rPr lang="en-GB" smtClean="0"/>
              <a:t>32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505801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61EA2-42F8-5609-8EB8-56A50D8CD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br>
              <a:rPr lang="en-GB" dirty="0"/>
            </a:br>
            <a:r>
              <a:rPr lang="en-GB" dirty="0"/>
              <a:t>Étape 3 — Point 4 : Amazon RDS / MongoDB et Amazon </a:t>
            </a:r>
            <a:r>
              <a:rPr lang="en-GB" dirty="0" err="1"/>
              <a:t>DocumentDB</a:t>
            </a:r>
            <a:br>
              <a:rPr lang="en-GB" b="1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1187E-27CA-F256-C34D-B17A060241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11188"/>
            <a:ext cx="10515600" cy="2837330"/>
          </a:xfrm>
        </p:spPr>
        <p:txBody>
          <a:bodyPr/>
          <a:lstStyle/>
          <a:p>
            <a:r>
              <a:rPr lang="en-GB" b="1" dirty="0"/>
              <a:t>Point important (à dire </a:t>
            </a:r>
            <a:r>
              <a:rPr lang="en-GB" b="1" dirty="0" err="1"/>
              <a:t>clairement</a:t>
            </a:r>
            <a:r>
              <a:rPr lang="en-GB" b="1" dirty="0"/>
              <a:t>)</a:t>
            </a:r>
          </a:p>
          <a:p>
            <a:r>
              <a:rPr lang="en-GB" dirty="0"/>
              <a:t>AWS </a:t>
            </a:r>
            <a:r>
              <a:rPr lang="en-GB" b="1" dirty="0"/>
              <a:t>ne propose pas MongoDB </a:t>
            </a:r>
            <a:r>
              <a:rPr lang="en-GB" b="1" dirty="0" err="1"/>
              <a:t>natif</a:t>
            </a:r>
            <a:r>
              <a:rPr lang="en-GB" dirty="0"/>
              <a:t> </a:t>
            </a:r>
            <a:r>
              <a:rPr lang="en-GB" dirty="0" err="1"/>
              <a:t>en</a:t>
            </a:r>
            <a:r>
              <a:rPr lang="en-GB" dirty="0"/>
              <a:t> service </a:t>
            </a:r>
            <a:r>
              <a:rPr lang="en-GB" dirty="0" err="1"/>
              <a:t>managé</a:t>
            </a:r>
            <a:r>
              <a:rPr lang="en-GB" dirty="0"/>
              <a:t>.</a:t>
            </a:r>
          </a:p>
          <a:p>
            <a:r>
              <a:rPr lang="en-GB" b="1" dirty="0"/>
              <a:t>Solution AWS </a:t>
            </a:r>
            <a:r>
              <a:rPr lang="en-GB" b="1" dirty="0" err="1"/>
              <a:t>équivalente</a:t>
            </a:r>
            <a:endParaRPr lang="en-GB" b="1" dirty="0"/>
          </a:p>
          <a:p>
            <a:pPr marL="0" indent="0">
              <a:buNone/>
            </a:pPr>
            <a:r>
              <a:rPr lang="en-GB" dirty="0"/>
              <a:t> </a:t>
            </a:r>
            <a:r>
              <a:rPr lang="en-GB" b="1" dirty="0"/>
              <a:t>Amazon </a:t>
            </a:r>
            <a:r>
              <a:rPr lang="en-GB" b="1" dirty="0" err="1"/>
              <a:t>DocumentDB</a:t>
            </a:r>
            <a:r>
              <a:rPr lang="en-GB" b="1" dirty="0"/>
              <a:t> (compatible MongoDB)</a:t>
            </a: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9D0DD5-8EF6-6ED9-B526-5A731324B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E201C-1B8B-4DD0-BF50-8F7AF6C91112}" type="datetime1">
              <a:rPr lang="en-GB" smtClean="0"/>
              <a:t>20/02/2026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4E9CB8-2FA9-520A-84CC-C17A810D8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Maintenez et documentez un système de stockage des données sécurisé et performant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27CA62-E569-9197-2AB8-AEDD704D9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4C30A-9459-45DE-9720-B9BD7B8369A6}" type="slidenum">
              <a:rPr lang="en-GB" smtClean="0"/>
              <a:t>33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7516343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CBDBF8-B737-C7BE-7FF0-EBB739D6B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93028"/>
          </a:xfrm>
        </p:spPr>
        <p:txBody>
          <a:bodyPr>
            <a:normAutofit fontScale="90000"/>
          </a:bodyPr>
          <a:lstStyle/>
          <a:p>
            <a:pPr algn="ctr"/>
            <a:br>
              <a:rPr lang="fr-FR" dirty="0"/>
            </a:br>
            <a:r>
              <a:rPr lang="fr-FR" dirty="0"/>
              <a:t>Amazon </a:t>
            </a:r>
            <a:r>
              <a:rPr lang="fr-FR" dirty="0" err="1"/>
              <a:t>DocumentDB</a:t>
            </a:r>
            <a:r>
              <a:rPr lang="fr-FR" dirty="0"/>
              <a:t>, c’est quoi ?</a:t>
            </a:r>
            <a:br>
              <a:rPr lang="fr-FR" b="1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98440E-6AC2-FA6C-5A72-42EE620D12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Base de données </a:t>
            </a:r>
            <a:r>
              <a:rPr lang="fr-FR" b="1" dirty="0"/>
              <a:t>managée par AWS</a:t>
            </a:r>
            <a:endParaRPr lang="fr-FR" dirty="0"/>
          </a:p>
          <a:p>
            <a:r>
              <a:rPr lang="fr-FR" dirty="0"/>
              <a:t>Compatible avec l’API MongoDB</a:t>
            </a:r>
          </a:p>
          <a:p>
            <a:r>
              <a:rPr lang="fr-FR" dirty="0"/>
              <a:t>Pas besoin de gérer :</a:t>
            </a:r>
          </a:p>
          <a:p>
            <a:pPr lvl="1"/>
            <a:r>
              <a:rPr lang="fr-FR" dirty="0"/>
              <a:t>installation</a:t>
            </a:r>
          </a:p>
          <a:p>
            <a:pPr lvl="1"/>
            <a:r>
              <a:rPr lang="fr-FR" dirty="0"/>
              <a:t>mises à jour</a:t>
            </a:r>
          </a:p>
          <a:p>
            <a:pPr lvl="1"/>
            <a:r>
              <a:rPr lang="fr-FR" dirty="0"/>
              <a:t>sauvegardes</a:t>
            </a:r>
          </a:p>
          <a:p>
            <a:pPr lvl="1"/>
            <a:r>
              <a:rPr lang="fr-FR" dirty="0"/>
              <a:t>haute disponibilité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B3A7A4-082E-6BB6-C87C-05472EAE75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E201C-1B8B-4DD0-BF50-8F7AF6C91112}" type="datetime1">
              <a:rPr lang="en-GB" smtClean="0"/>
              <a:t>20/02/2026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2AB2B5-1DE9-3020-3A91-11F71EE14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Maintenez et documentez un système de stockage des données sécurisé et performant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7E7B1F-6858-205B-F535-D7EB13A61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4C30A-9459-45DE-9720-B9BD7B8369A6}" type="slidenum">
              <a:rPr lang="en-GB" smtClean="0"/>
              <a:t>34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900049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80431-CA87-4263-4DCC-7C5F4FFA0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 err="1"/>
              <a:t>Différence</a:t>
            </a:r>
            <a:r>
              <a:rPr lang="en-GB" dirty="0"/>
              <a:t> avec MongoDB “</a:t>
            </a:r>
            <a:r>
              <a:rPr lang="en-GB" dirty="0" err="1"/>
              <a:t>classique</a:t>
            </a:r>
            <a:r>
              <a:rPr lang="en-GB" dirty="0"/>
              <a:t>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7093E5-9A44-0B3B-F455-653C7B1042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6"/>
            <a:ext cx="10515600" cy="2248834"/>
          </a:xfrm>
        </p:spPr>
        <p:txBody>
          <a:bodyPr/>
          <a:lstStyle/>
          <a:p>
            <a:pPr marL="0" indent="0">
              <a:buNone/>
            </a:pPr>
            <a:r>
              <a:rPr lang="fr-FR" dirty="0"/>
              <a:t>MongoDB classique				Amazon </a:t>
            </a:r>
            <a:r>
              <a:rPr lang="fr-FR" dirty="0" err="1"/>
              <a:t>DocumentDB</a:t>
            </a:r>
            <a:endParaRPr lang="fr-FR" dirty="0"/>
          </a:p>
          <a:p>
            <a:pPr marL="0" indent="0">
              <a:buNone/>
            </a:pPr>
            <a:r>
              <a:rPr lang="fr-FR" dirty="0"/>
              <a:t>Installé soi-même				Géré par AWS</a:t>
            </a:r>
          </a:p>
          <a:p>
            <a:pPr marL="0" indent="0">
              <a:buNone/>
            </a:pPr>
            <a:r>
              <a:rPr lang="fr-FR" dirty="0"/>
              <a:t>Plus de contrôle					Moins de maintenance</a:t>
            </a:r>
          </a:p>
          <a:p>
            <a:pPr marL="0" indent="0">
              <a:buNone/>
            </a:pPr>
            <a:r>
              <a:rPr lang="fr-FR" dirty="0"/>
              <a:t>Gratuit (hors infra)				Payant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F7A9DC-BDEF-C798-4BDD-208F7005F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E201C-1B8B-4DD0-BF50-8F7AF6C91112}" type="datetime1">
              <a:rPr lang="en-GB" smtClean="0"/>
              <a:t>20/02/2026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45962D-8001-E31D-1AE6-77FCFC468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Maintenez et documentez un système de stockage des données sécurisé et performant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5A7B-3B71-1479-925F-3E785AB82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4C30A-9459-45DE-9720-B9BD7B8369A6}" type="slidenum">
              <a:rPr lang="en-GB" smtClean="0"/>
              <a:t>35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201873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89A58-CC02-CBF1-7AE9-1E0193DBA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br>
              <a:rPr lang="fr-FR" b="1" dirty="0"/>
            </a:br>
            <a:r>
              <a:rPr lang="fr-FR" b="1" dirty="0"/>
              <a:t>Lien avec notre projet</a:t>
            </a:r>
            <a:br>
              <a:rPr lang="fr-FR" b="1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0CBC49-C3A2-2408-B28A-8B6557F146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2658" y="1825625"/>
            <a:ext cx="9950823" cy="3889375"/>
          </a:xfrm>
        </p:spPr>
        <p:txBody>
          <a:bodyPr>
            <a:normAutofit/>
          </a:bodyPr>
          <a:lstStyle/>
          <a:p>
            <a:r>
              <a:rPr lang="fr-FR" dirty="0"/>
              <a:t>Aujourd’hui : </a:t>
            </a:r>
            <a:r>
              <a:rPr lang="fr-FR" b="1" dirty="0"/>
              <a:t>MongoDB dans Docker (local)</a:t>
            </a:r>
            <a:endParaRPr lang="fr-FR" dirty="0"/>
          </a:p>
          <a:p>
            <a:r>
              <a:rPr lang="fr-FR" dirty="0"/>
              <a:t>Plus tard :</a:t>
            </a:r>
          </a:p>
          <a:p>
            <a:pPr lvl="1"/>
            <a:r>
              <a:rPr lang="fr-FR" dirty="0"/>
              <a:t>soit </a:t>
            </a:r>
            <a:r>
              <a:rPr lang="fr-FR" b="1" dirty="0"/>
              <a:t>MongoDB sur serveur cloud</a:t>
            </a:r>
            <a:endParaRPr lang="fr-FR" dirty="0"/>
          </a:p>
          <a:p>
            <a:pPr lvl="1"/>
            <a:r>
              <a:rPr lang="fr-FR" dirty="0"/>
              <a:t>soit </a:t>
            </a:r>
            <a:r>
              <a:rPr lang="fr-FR" b="1" dirty="0"/>
              <a:t>Amazon </a:t>
            </a:r>
            <a:r>
              <a:rPr lang="fr-FR" b="1" dirty="0" err="1"/>
              <a:t>DocumentDB</a:t>
            </a:r>
            <a:r>
              <a:rPr lang="fr-FR" dirty="0"/>
              <a:t> pour une solution managée</a:t>
            </a:r>
          </a:p>
          <a:p>
            <a:pPr marL="0" indent="0">
              <a:buNone/>
            </a:pPr>
            <a:endParaRPr lang="fr-FR" b="1" dirty="0"/>
          </a:p>
          <a:p>
            <a:pPr marL="0" indent="0">
              <a:buNone/>
            </a:pPr>
            <a:r>
              <a:rPr lang="fr-FR" b="1" dirty="0"/>
              <a:t>Message clé pour le client</a:t>
            </a:r>
          </a:p>
          <a:p>
            <a:r>
              <a:rPr lang="fr-FR" dirty="0"/>
              <a:t>Amazon </a:t>
            </a:r>
            <a:r>
              <a:rPr lang="fr-FR" dirty="0" err="1"/>
              <a:t>DocumentDB</a:t>
            </a:r>
            <a:r>
              <a:rPr lang="fr-FR" dirty="0"/>
              <a:t> permet de migrer vers le cloud sans gérer l’infrastructure MongoDB.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737C09-C279-C9B8-7CEE-1B4B96B23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E201C-1B8B-4DD0-BF50-8F7AF6C91112}" type="datetime1">
              <a:rPr lang="en-GB" smtClean="0"/>
              <a:t>20/02/2026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F4C6EE-0062-0C89-0388-8D38F78994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Maintenez et documentez un système de stockage des données sécurisé et performant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7DFA0E-7FEA-75D4-F425-62C7328A5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4C30A-9459-45DE-9720-B9BD7B8369A6}" type="slidenum">
              <a:rPr lang="en-GB" smtClean="0"/>
              <a:t>36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657639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41843-B4C0-73E0-71FC-E99F85352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br>
              <a:rPr lang="en-GB" dirty="0"/>
            </a:br>
            <a:r>
              <a:rPr lang="en-GB" dirty="0"/>
              <a:t>Étape 3 — Point 5 : </a:t>
            </a:r>
            <a:r>
              <a:rPr lang="en-GB" dirty="0" err="1"/>
              <a:t>Déployer</a:t>
            </a:r>
            <a:r>
              <a:rPr lang="en-GB" dirty="0"/>
              <a:t> MongoDB dans Docker sur Amazon ECS</a:t>
            </a:r>
            <a:br>
              <a:rPr lang="en-GB" b="1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E3553A-AA46-34EC-C0E4-17D3B61B04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07023"/>
            <a:ext cx="10515600" cy="2689411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GB" dirty="0" err="1"/>
              <a:t>D’abord</a:t>
            </a:r>
            <a:r>
              <a:rPr lang="en-GB" dirty="0"/>
              <a:t> : </a:t>
            </a:r>
            <a:r>
              <a:rPr lang="en-GB" dirty="0" err="1"/>
              <a:t>c’est</a:t>
            </a:r>
            <a:r>
              <a:rPr lang="en-GB" dirty="0"/>
              <a:t> quoi Amazon ECS ?</a:t>
            </a:r>
          </a:p>
          <a:p>
            <a:pPr marL="0" indent="0" algn="ctr">
              <a:buNone/>
            </a:pPr>
            <a:r>
              <a:rPr lang="en-GB" dirty="0"/>
              <a:t>Amazon ECS (Elastic Container Service) est un service AWS pour </a:t>
            </a:r>
            <a:r>
              <a:rPr lang="en-GB" dirty="0" err="1"/>
              <a:t>exécuter</a:t>
            </a:r>
            <a:r>
              <a:rPr lang="en-GB" dirty="0"/>
              <a:t> des </a:t>
            </a:r>
            <a:r>
              <a:rPr lang="en-GB" dirty="0" err="1"/>
              <a:t>conteneurs</a:t>
            </a:r>
            <a:r>
              <a:rPr lang="en-GB" dirty="0"/>
              <a:t> Docker dans le cloud.</a:t>
            </a:r>
          </a:p>
          <a:p>
            <a:pPr marL="0" indent="0" algn="ctr">
              <a:buNone/>
            </a:pPr>
            <a:endParaRPr lang="en-GB" dirty="0"/>
          </a:p>
          <a:p>
            <a:pPr marL="0" indent="0" algn="ctr">
              <a:buNone/>
            </a:pPr>
            <a:r>
              <a:rPr lang="en-GB" dirty="0" err="1"/>
              <a:t>C’est</a:t>
            </a:r>
            <a:r>
              <a:rPr lang="en-GB" dirty="0"/>
              <a:t> </a:t>
            </a:r>
            <a:r>
              <a:rPr lang="en-GB" dirty="0" err="1"/>
              <a:t>l’équivalent</a:t>
            </a:r>
            <a:r>
              <a:rPr lang="en-GB" dirty="0"/>
              <a:t> cloud de </a:t>
            </a:r>
            <a:r>
              <a:rPr lang="en-GB" dirty="0" err="1"/>
              <a:t>ce</a:t>
            </a:r>
            <a:r>
              <a:rPr lang="en-GB" dirty="0"/>
              <a:t> </a:t>
            </a:r>
            <a:r>
              <a:rPr lang="en-GB" dirty="0" err="1"/>
              <a:t>que</a:t>
            </a:r>
            <a:r>
              <a:rPr lang="en-GB" dirty="0"/>
              <a:t> </a:t>
            </a:r>
            <a:r>
              <a:rPr lang="en-GB" dirty="0" err="1"/>
              <a:t>tu</a:t>
            </a:r>
            <a:r>
              <a:rPr lang="en-GB" dirty="0"/>
              <a:t> </a:t>
            </a:r>
            <a:r>
              <a:rPr lang="en-GB" dirty="0" err="1"/>
              <a:t>fais</a:t>
            </a:r>
            <a:r>
              <a:rPr lang="en-GB" dirty="0"/>
              <a:t> </a:t>
            </a:r>
            <a:r>
              <a:rPr lang="en-GB" dirty="0" err="1"/>
              <a:t>en</a:t>
            </a:r>
            <a:r>
              <a:rPr lang="en-GB" dirty="0"/>
              <a:t> local avec docker-compose.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673047-9A13-F48C-0391-4949C4A358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E201C-1B8B-4DD0-BF50-8F7AF6C91112}" type="datetime1">
              <a:rPr lang="en-GB" smtClean="0"/>
              <a:t>20/02/2026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157CBD-585D-0A67-37AC-2F40D8E94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Maintenez et documentez un système de stockage des données sécurisé et performant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619E34-E86B-C4D1-619D-04C5366D3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4C30A-9459-45DE-9720-B9BD7B8369A6}" type="slidenum">
              <a:rPr lang="en-GB" smtClean="0"/>
              <a:t>37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426238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50DE1-B5BB-9773-1D3D-EB6595979A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19922"/>
          </a:xfrm>
        </p:spPr>
        <p:txBody>
          <a:bodyPr>
            <a:normAutofit fontScale="90000"/>
          </a:bodyPr>
          <a:lstStyle/>
          <a:p>
            <a:pPr algn="ctr"/>
            <a:br>
              <a:rPr lang="fr-FR" b="1" dirty="0"/>
            </a:br>
            <a:r>
              <a:rPr lang="fr-FR" dirty="0"/>
              <a:t>Principe simple</a:t>
            </a:r>
            <a:br>
              <a:rPr lang="fr-FR" b="1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69BAC5-D3A0-437B-C5F7-EF0607A1B3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1259" y="1825624"/>
            <a:ext cx="9426388" cy="3432175"/>
          </a:xfrm>
        </p:spPr>
        <p:txBody>
          <a:bodyPr>
            <a:normAutofit fontScale="92500" lnSpcReduction="20000"/>
          </a:bodyPr>
          <a:lstStyle/>
          <a:p>
            <a:r>
              <a:rPr lang="fr-FR" dirty="0"/>
              <a:t>Aujourd’hui (chez toi) :</a:t>
            </a:r>
          </a:p>
          <a:p>
            <a:r>
              <a:rPr lang="fr-FR" dirty="0"/>
              <a:t>Docker</a:t>
            </a:r>
          </a:p>
          <a:p>
            <a:r>
              <a:rPr lang="fr-FR" dirty="0"/>
              <a:t>docker-compose</a:t>
            </a:r>
          </a:p>
          <a:p>
            <a:r>
              <a:rPr lang="fr-FR" dirty="0"/>
              <a:t>MongoDB dans un conteneur</a:t>
            </a:r>
          </a:p>
          <a:p>
            <a:r>
              <a:rPr lang="fr-FR" dirty="0"/>
              <a:t>Sur AWS avec ECS :</a:t>
            </a:r>
          </a:p>
          <a:p>
            <a:r>
              <a:rPr lang="fr-FR" dirty="0"/>
              <a:t>Docker</a:t>
            </a:r>
          </a:p>
          <a:p>
            <a:r>
              <a:rPr lang="fr-FR" dirty="0"/>
              <a:t>ECS remplace docker-compose</a:t>
            </a:r>
          </a:p>
          <a:p>
            <a:r>
              <a:rPr lang="fr-FR" dirty="0"/>
              <a:t>MongoDB tourne dans un conteneur sur des serveurs AWS</a:t>
            </a:r>
          </a:p>
          <a:p>
            <a:endParaRPr lang="fr-FR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CA3D87-D9DD-D283-3993-5FA6B4BD63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E201C-1B8B-4DD0-BF50-8F7AF6C91112}" type="datetime1">
              <a:rPr lang="en-GB" smtClean="0"/>
              <a:t>20/02/2026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B8974B-B8AD-77CF-8E58-C7393DA3F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Maintenez et documentez un système de stockage des données sécurisé et performant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94827-2DB8-8BF1-F128-CF5E22ABA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4C30A-9459-45DE-9720-B9BD7B8369A6}" type="slidenum">
              <a:rPr lang="en-GB" smtClean="0"/>
              <a:t>38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211182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9B15A6-7DBD-695D-B618-863020B47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br>
              <a:rPr lang="fr-FR" b="1" dirty="0"/>
            </a:br>
            <a:r>
              <a:rPr lang="fr-FR" dirty="0"/>
              <a:t>Ce que ECS apporte</a:t>
            </a:r>
            <a:br>
              <a:rPr lang="fr-FR" b="1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0435FF-B7FA-F563-27DB-259F17AAD5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Scalabilité (plusieurs conteneurs si besoin)</a:t>
            </a:r>
          </a:p>
          <a:p>
            <a:r>
              <a:rPr lang="fr-FR" dirty="0"/>
              <a:t>Haute disponibilité</a:t>
            </a:r>
          </a:p>
          <a:p>
            <a:r>
              <a:rPr lang="fr-FR" dirty="0"/>
              <a:t>Gestion par AWS des serveurs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C95EC2-B92B-37F9-2150-F64C9FC227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E201C-1B8B-4DD0-BF50-8F7AF6C91112}" type="datetime1">
              <a:rPr lang="en-GB" smtClean="0"/>
              <a:t>20/02/2026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FC2164-B24B-0807-6698-FD157DBB7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Maintenez et documentez un système de stockage des données sécurisé et performant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010B50-FB37-8ACA-A107-6608CD8D0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4C30A-9459-45DE-9720-B9BD7B8369A6}" type="slidenum">
              <a:rPr lang="en-GB" smtClean="0"/>
              <a:t>39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722222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9AE8A-8356-22AF-58CF-1B3CCD7C81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365125"/>
            <a:ext cx="9036424" cy="1325563"/>
          </a:xfrm>
        </p:spPr>
        <p:txBody>
          <a:bodyPr>
            <a:normAutofit fontScale="90000"/>
          </a:bodyPr>
          <a:lstStyle/>
          <a:p>
            <a:pPr algn="ctr"/>
            <a:br>
              <a:rPr lang="fr-FR" dirty="0"/>
            </a:br>
            <a:r>
              <a:rPr lang="fr-FR" dirty="0"/>
              <a:t>Lien avec notre projet</a:t>
            </a:r>
            <a:br>
              <a:rPr lang="fr-FR" b="1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18CDCE-AC7F-BE3F-A162-B72AA715DB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2624" y="1825625"/>
            <a:ext cx="9453282" cy="3553199"/>
          </a:xfrm>
        </p:spPr>
        <p:txBody>
          <a:bodyPr/>
          <a:lstStyle/>
          <a:p>
            <a:pPr marL="0" indent="0">
              <a:buNone/>
            </a:pPr>
            <a:r>
              <a:rPr lang="fr-FR" dirty="0"/>
              <a:t>Notre projet est déjà prêt pour ECS car :</a:t>
            </a:r>
          </a:p>
          <a:p>
            <a:pPr marL="0" indent="0">
              <a:buNone/>
            </a:pPr>
            <a:endParaRPr lang="fr-FR" dirty="0"/>
          </a:p>
          <a:p>
            <a:r>
              <a:rPr lang="fr-FR" dirty="0"/>
              <a:t>MongoDB est conteneurisé </a:t>
            </a:r>
          </a:p>
          <a:p>
            <a:r>
              <a:rPr lang="fr-FR" dirty="0"/>
              <a:t>La migration est automatisée </a:t>
            </a:r>
          </a:p>
          <a:p>
            <a:pPr marL="0" indent="0" algn="ctr">
              <a:buNone/>
            </a:pPr>
            <a:endParaRPr lang="fr-FR" dirty="0"/>
          </a:p>
          <a:p>
            <a:pPr marL="0" indent="0" algn="ctr">
              <a:buNone/>
            </a:pPr>
            <a:r>
              <a:rPr lang="fr-FR" dirty="0"/>
              <a:t>ECS pourrait exécuter exactement la même image Docker que celle de ton projet.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C8CBCE-5D68-8D8F-BB25-99F0E10AC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E201C-1B8B-4DD0-BF50-8F7AF6C91112}" type="datetime1">
              <a:rPr lang="en-GB" smtClean="0"/>
              <a:t>20/02/2026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10F68E-986A-AD1D-C5A3-2EC57A391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Maintenez et documentez un système de stockage des données sécurisé et performant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78DA00-9A9D-3550-9E1C-8B07428D5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4C30A-9459-45DE-9720-B9BD7B8369A6}" type="slidenum">
              <a:rPr lang="en-GB" smtClean="0"/>
              <a:t>40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046379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0374A-38A5-5D15-9464-CF3AA1767F6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err="1"/>
              <a:t>Resumer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4A7889-AE75-A640-F6B6-77A531050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1E14B-197D-40F8-A0DE-3D1DC62B7623}" type="datetime1">
              <a:rPr lang="en-GB" smtClean="0"/>
              <a:t>20/02/2026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82AA6B-5CA7-716C-CCBB-C950573C82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Maintenez et documentez un système de stockage des données sécurisé et performant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B02C41-A89F-B3FC-5253-C97915851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4C30A-9459-45DE-9720-B9BD7B8369A6}" type="slidenum">
              <a:rPr lang="en-GB" smtClean="0"/>
              <a:t>41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525277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FF6235-A85E-D414-A6AD-99ED8B8587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E201C-1B8B-4DD0-BF50-8F7AF6C91112}" type="datetime1">
              <a:rPr lang="en-GB" smtClean="0"/>
              <a:t>20/02/2026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19A2AB-A376-8EE6-6D3A-EF19B356B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Maintenez et documentez un système de stockage des données sécurisé et performant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F51A30-A4A9-41AE-8BBA-56E550EDA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4C30A-9459-45DE-9720-B9BD7B8369A6}" type="slidenum">
              <a:rPr lang="en-GB" smtClean="0"/>
              <a:t>42</a:t>
            </a:fld>
            <a:endParaRPr lang="en-GB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4D9A16B-784D-D274-F039-BFC5165D7D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50863"/>
            <a:ext cx="10515600" cy="4774172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r>
              <a:rPr lang="fr-FR" b="1" dirty="0"/>
              <a:t> </a:t>
            </a:r>
          </a:p>
          <a:p>
            <a:pPr marL="0" indent="0" algn="ctr">
              <a:buNone/>
            </a:pPr>
            <a:r>
              <a:rPr lang="fr-FR" dirty="0"/>
              <a:t>L’Étape 3 semble déconnectée</a:t>
            </a:r>
          </a:p>
          <a:p>
            <a:pPr algn="ctr"/>
            <a:r>
              <a:rPr lang="fr-FR" dirty="0"/>
              <a:t> Il s’agit d’explorer AWS</a:t>
            </a:r>
          </a:p>
          <a:p>
            <a:pPr algn="ctr"/>
            <a:r>
              <a:rPr lang="fr-FR" dirty="0"/>
              <a:t>Pas évaluée?</a:t>
            </a:r>
          </a:p>
          <a:p>
            <a:pPr algn="ctr"/>
            <a:r>
              <a:rPr lang="fr-FR" dirty="0"/>
              <a:t> Pas de déploiement demandé</a:t>
            </a:r>
          </a:p>
          <a:p>
            <a:pPr algn="ctr"/>
            <a:r>
              <a:rPr lang="fr-FR" dirty="0"/>
              <a:t> Aucun impact technique sur notre code</a:t>
            </a:r>
          </a:p>
          <a:p>
            <a:pPr algn="ctr"/>
            <a:r>
              <a:rPr lang="fr-FR" dirty="0"/>
              <a:t>Juste de la culture générale cloud</a:t>
            </a:r>
          </a:p>
          <a:p>
            <a:pPr algn="ctr"/>
            <a:endParaRPr lang="fr-FR" dirty="0"/>
          </a:p>
          <a:p>
            <a:pPr marL="0" indent="0" algn="ctr">
              <a:buNone/>
            </a:pPr>
            <a:r>
              <a:rPr lang="fr-FR" dirty="0"/>
              <a:t>Elle sert à :</a:t>
            </a:r>
          </a:p>
          <a:p>
            <a:pPr algn="ctr"/>
            <a:r>
              <a:rPr lang="fr-FR" dirty="0"/>
              <a:t>Comprendre où ce système pourrait aller plus tard</a:t>
            </a:r>
          </a:p>
          <a:p>
            <a:pPr algn="ctr"/>
            <a:r>
              <a:rPr lang="fr-FR" dirty="0"/>
              <a:t>Être capable d’en parler, pas de le faire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6345622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C4A54-A682-C529-81B3-3EFE4B63F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br>
              <a:rPr lang="fr-FR" b="1" dirty="0"/>
            </a:br>
            <a:r>
              <a:rPr lang="fr-FR" dirty="0"/>
              <a:t>Conclusion </a:t>
            </a:r>
            <a:br>
              <a:rPr lang="fr-FR" b="1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1201CB-9DCA-81B5-47C1-80C2FEDAB3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6753" y="1825625"/>
            <a:ext cx="9049872" cy="2853951"/>
          </a:xfrm>
        </p:spPr>
        <p:txBody>
          <a:bodyPr/>
          <a:lstStyle/>
          <a:p>
            <a:pPr marL="0" indent="0">
              <a:buNone/>
            </a:pPr>
            <a:endParaRPr lang="fr-FR" b="1" dirty="0"/>
          </a:p>
          <a:p>
            <a:pPr marL="0" indent="0" algn="ctr">
              <a:buNone/>
            </a:pPr>
            <a:r>
              <a:rPr lang="fr-FR" dirty="0"/>
              <a:t>Étapes 1 &amp; 2 → </a:t>
            </a:r>
            <a:r>
              <a:rPr lang="fr-FR" i="1" dirty="0"/>
              <a:t>Projet réel, noté, obligatoire</a:t>
            </a:r>
            <a:endParaRPr lang="fr-FR" dirty="0"/>
          </a:p>
          <a:p>
            <a:pPr marL="0" indent="0" algn="ctr">
              <a:buNone/>
            </a:pPr>
            <a:r>
              <a:rPr lang="fr-FR" dirty="0"/>
              <a:t>Étape 3 → </a:t>
            </a:r>
            <a:r>
              <a:rPr lang="fr-FR" i="1" dirty="0"/>
              <a:t>Documentation théorique, secondaire</a:t>
            </a:r>
            <a:endParaRPr lang="fr-FR" dirty="0"/>
          </a:p>
          <a:p>
            <a:pPr marL="0" indent="0" algn="ctr">
              <a:buNone/>
            </a:pPr>
            <a:r>
              <a:rPr lang="fr-FR" dirty="0"/>
              <a:t>Aucun lien technique direct</a:t>
            </a:r>
          </a:p>
          <a:p>
            <a:pPr marL="0" indent="0" algn="ctr">
              <a:buNone/>
            </a:pPr>
            <a:r>
              <a:rPr lang="fr-FR" dirty="0"/>
              <a:t>Tu peux avancer à l’Étape 4 sans bloquer ton projet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9F5F7E-732A-A946-2B80-0207E8C663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E201C-1B8B-4DD0-BF50-8F7AF6C91112}" type="datetime1">
              <a:rPr lang="en-GB" smtClean="0"/>
              <a:t>20/02/2026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8560E1-05DC-62EE-3092-65107C6E5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Maintenez et documentez un système de stockage des données sécurisé et performant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526315-6C1E-6016-2F1F-C25DAEE4A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4C30A-9459-45DE-9720-B9BD7B8369A6}" type="slidenum">
              <a:rPr lang="en-GB" smtClean="0"/>
              <a:t>43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655108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B717F-9C2F-0E38-C69F-6F83DFB2C25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err="1"/>
              <a:t>Concevez</a:t>
            </a:r>
            <a:r>
              <a:rPr lang="en-GB" dirty="0"/>
              <a:t> </a:t>
            </a:r>
            <a:r>
              <a:rPr lang="en-GB" dirty="0" err="1"/>
              <a:t>votre</a:t>
            </a:r>
            <a:r>
              <a:rPr lang="en-GB" dirty="0"/>
              <a:t> support de presentation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D4FA30-7B4B-0984-3196-D8A8A0FB91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63270" y="3765176"/>
            <a:ext cx="8364071" cy="1385048"/>
          </a:xfrm>
        </p:spPr>
        <p:txBody>
          <a:bodyPr/>
          <a:lstStyle/>
          <a:p>
            <a:endParaRPr lang="en-GB" dirty="0"/>
          </a:p>
          <a:p>
            <a:r>
              <a:rPr lang="en-GB" sz="3200" dirty="0" err="1"/>
              <a:t>Avoir</a:t>
            </a:r>
            <a:r>
              <a:rPr lang="en-GB" sz="3200" dirty="0"/>
              <a:t> </a:t>
            </a:r>
            <a:r>
              <a:rPr lang="en-GB" sz="3200" dirty="0" err="1"/>
              <a:t>finalisé</a:t>
            </a:r>
            <a:r>
              <a:rPr lang="en-GB" sz="3200" dirty="0"/>
              <a:t> </a:t>
            </a:r>
            <a:r>
              <a:rPr lang="en-GB" sz="3200" dirty="0" err="1"/>
              <a:t>notre</a:t>
            </a:r>
            <a:r>
              <a:rPr lang="en-GB" sz="3200" dirty="0"/>
              <a:t> travail</a:t>
            </a:r>
          </a:p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AE4444-ED8E-849E-6F23-3CFAEE6E8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1E14B-197D-40F8-A0DE-3D1DC62B7623}" type="datetime1">
              <a:rPr lang="en-GB" smtClean="0"/>
              <a:t>20/02/2026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48A141-6606-E65A-A190-83FA0503F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Maintenez et documentez un système de stockage des données sécurisé et performant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D4D36D-3E69-A9D1-28BD-1196DAEAC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4C30A-9459-45DE-9720-B9BD7B8369A6}" type="slidenum">
              <a:rPr lang="en-GB" smtClean="0"/>
              <a:t>44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017081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9BC25-6819-7CF2-CA38-B2AFB7BFC6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365125"/>
            <a:ext cx="6710082" cy="1325563"/>
          </a:xfrm>
        </p:spPr>
        <p:txBody>
          <a:bodyPr>
            <a:normAutofit fontScale="90000"/>
          </a:bodyPr>
          <a:lstStyle/>
          <a:p>
            <a:pPr algn="ctr"/>
            <a:br>
              <a:rPr lang="fr-FR" b="1" dirty="0"/>
            </a:br>
            <a:r>
              <a:rPr lang="fr-FR" b="1" dirty="0"/>
              <a:t>Objectif</a:t>
            </a:r>
            <a:br>
              <a:rPr lang="fr-FR" b="1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1B385C-A1F0-D200-E89E-756D6DCC2D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853951"/>
          </a:xfrm>
        </p:spPr>
        <p:txBody>
          <a:bodyPr/>
          <a:lstStyle/>
          <a:p>
            <a:pPr marL="0" indent="0">
              <a:buNone/>
            </a:pPr>
            <a:r>
              <a:rPr lang="fr-FR" dirty="0"/>
              <a:t>Montrons que notre système MongoDB est :</a:t>
            </a:r>
          </a:p>
          <a:p>
            <a:r>
              <a:rPr lang="fr-FR" dirty="0"/>
              <a:t>sécurisé</a:t>
            </a:r>
          </a:p>
          <a:p>
            <a:r>
              <a:rPr lang="fr-FR" dirty="0"/>
              <a:t>compréhensible</a:t>
            </a:r>
          </a:p>
          <a:p>
            <a:r>
              <a:rPr lang="fr-FR" dirty="0"/>
              <a:t>professionnel</a:t>
            </a:r>
          </a:p>
          <a:p>
            <a:r>
              <a:rPr lang="fr-FR" dirty="0"/>
              <a:t>prêt pour un client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769DB9-1DF6-F2C5-1434-7C2133F7E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E201C-1B8B-4DD0-BF50-8F7AF6C91112}" type="datetime1">
              <a:rPr lang="en-GB" smtClean="0"/>
              <a:t>20/02/2026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4223C-90CA-5310-3D8C-7C2A6EB1C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Maintenez et documentez un système de stockage des données sécurisé et performant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7843B4-017E-4F6F-E44D-670B0B6FF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4C30A-9459-45DE-9720-B9BD7B8369A6}" type="slidenum">
              <a:rPr lang="en-GB" smtClean="0"/>
              <a:t>45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35323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2876</TotalTime>
  <Words>2316</Words>
  <Application>Microsoft Office PowerPoint</Application>
  <PresentationFormat>Widescreen</PresentationFormat>
  <Paragraphs>389</Paragraphs>
  <Slides>45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0" baseType="lpstr">
      <vt:lpstr>Abadi</vt:lpstr>
      <vt:lpstr>Aptos</vt:lpstr>
      <vt:lpstr>Aptos Display</vt:lpstr>
      <vt:lpstr>Arial</vt:lpstr>
      <vt:lpstr>Office Theme</vt:lpstr>
      <vt:lpstr>     Maintenez et documentez un système de stockage des données sécurisé et performant</vt:lpstr>
      <vt:lpstr>Nom de l’entreprise</vt:lpstr>
      <vt:lpstr>    Le contexte de la mission  </vt:lpstr>
      <vt:lpstr>Objectif global de la mission</vt:lpstr>
      <vt:lpstr> Vue d’ensemble de la démarche </vt:lpstr>
      <vt:lpstr>Big Data scalable horizontalement</vt:lpstr>
      <vt:lpstr>Processus de la migration vers MongoDB</vt:lpstr>
      <vt:lpstr>  Analyse de la source de données  </vt:lpstr>
      <vt:lpstr>La migration des données vers MongoDB via Docker </vt:lpstr>
      <vt:lpstr> Étape 1 : Migration des données vers MongoDB </vt:lpstr>
      <vt:lpstr> La prochaine sous-étape dans l’énoncé pour l’Étape 1 est : </vt:lpstr>
      <vt:lpstr>Conteneuriser l’application avec Docker </vt:lpstr>
      <vt:lpstr>  </vt:lpstr>
      <vt:lpstr> Docker Compose pour déployer MongoDB et la migration</vt:lpstr>
      <vt:lpstr> Démontrer la migration </vt:lpstr>
      <vt:lpstr>Resumer</vt:lpstr>
      <vt:lpstr>PowerPoint Presentation</vt:lpstr>
      <vt:lpstr>Explorez AWS </vt:lpstr>
      <vt:lpstr>Objectif</vt:lpstr>
      <vt:lpstr>Ordre officiel des points à documenter</vt:lpstr>
      <vt:lpstr>Pourquoi passer au cloud </vt:lpstr>
      <vt:lpstr>Ordinateur (local)</vt:lpstr>
      <vt:lpstr>Serveur (cloud)</vt:lpstr>
      <vt:lpstr>Conclusion pour le client</vt:lpstr>
      <vt:lpstr> Point 2 : Méthode pour créer un compte AWS </vt:lpstr>
      <vt:lpstr> Étapes théoriques (ce que ferait un client) </vt:lpstr>
      <vt:lpstr> Point important pour la mission </vt:lpstr>
      <vt:lpstr> Point 3 : Tarification d’AWS </vt:lpstr>
      <vt:lpstr> Ce qui influence le prix </vt:lpstr>
      <vt:lpstr> Free Tier (important) </vt:lpstr>
      <vt:lpstr> Exemple lié à ton projet </vt:lpstr>
      <vt:lpstr>Message clé pour le client </vt:lpstr>
      <vt:lpstr> Étape 3 — Point 4 : Amazon RDS / MongoDB et Amazon DocumentDB </vt:lpstr>
      <vt:lpstr> Amazon DocumentDB, c’est quoi ? </vt:lpstr>
      <vt:lpstr>Différence avec MongoDB “classique”</vt:lpstr>
      <vt:lpstr> Lien avec notre projet </vt:lpstr>
      <vt:lpstr> Étape 3 — Point 5 : Déployer MongoDB dans Docker sur Amazon ECS </vt:lpstr>
      <vt:lpstr> Principe simple </vt:lpstr>
      <vt:lpstr> Ce que ECS apporte </vt:lpstr>
      <vt:lpstr> Lien avec notre projet </vt:lpstr>
      <vt:lpstr>Resumer</vt:lpstr>
      <vt:lpstr>PowerPoint Presentation</vt:lpstr>
      <vt:lpstr> Conclusion  </vt:lpstr>
      <vt:lpstr>Concevez votre support de presentation</vt:lpstr>
      <vt:lpstr> Objectif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ediscot2015@gmail.com</dc:creator>
  <cp:lastModifiedBy>ediscot2015@gmail.com</cp:lastModifiedBy>
  <cp:revision>56</cp:revision>
  <dcterms:created xsi:type="dcterms:W3CDTF">2025-12-25T20:22:48Z</dcterms:created>
  <dcterms:modified xsi:type="dcterms:W3CDTF">2026-02-20T22:49:14Z</dcterms:modified>
</cp:coreProperties>
</file>